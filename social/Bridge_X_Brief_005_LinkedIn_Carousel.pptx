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1ccf5d96274daa" /><Relationship Type="http://schemas.openxmlformats.org/officeDocument/2006/relationships/extended-properties" Target="/docProps/app.xml" Id="Rc90c34f048bd4be0" /><Relationship Type="http://schemas.openxmlformats.org/officeDocument/2006/relationships/officeDocument" Target="/ppt/presentation.xml" Id="R1093874dc118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83f8c900a4a74"/>
  </p:sldMasterIdLst>
  <p:notesMasterIdLst>
    <p:notesMasterId xmlns:r="http://schemas.openxmlformats.org/officeDocument/2006/relationships" r:id="R0a9373822f7442d3"/>
  </p:notesMasterIdLst>
  <p:sldIdLst>
    <p:sldId xmlns:r="http://schemas.openxmlformats.org/officeDocument/2006/relationships" id="256" r:id="Rcd9adc732bce4c27"/>
    <p:sldId xmlns:r="http://schemas.openxmlformats.org/officeDocument/2006/relationships" id="257" r:id="Re6427d2b38cf4f02"/>
    <p:sldId xmlns:r="http://schemas.openxmlformats.org/officeDocument/2006/relationships" id="258" r:id="Rc6ea3813fdd84f91"/>
    <p:sldId xmlns:r="http://schemas.openxmlformats.org/officeDocument/2006/relationships" id="259" r:id="Rb9c381f7fd1f47ae"/>
    <p:sldId xmlns:r="http://schemas.openxmlformats.org/officeDocument/2006/relationships" id="260" r:id="R38c7303445cb46f0"/>
    <p:sldId xmlns:r="http://schemas.openxmlformats.org/officeDocument/2006/relationships" id="261" r:id="R77cfb81307e34ab9"/>
    <p:sldId xmlns:r="http://schemas.openxmlformats.org/officeDocument/2006/relationships" id="262" r:id="Rd047a685e0524a6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626b9fd0a4bca" /><Relationship Type="http://schemas.openxmlformats.org/officeDocument/2006/relationships/slideMaster" Target="/ppt/slideMasters/slideMaster1.xml" Id="R9f083f8c900a4a74" /><Relationship Type="http://schemas.openxmlformats.org/officeDocument/2006/relationships/notesMaster" Target="/ppt/notesMasters/notesMaster1.xml" Id="R0a9373822f7442d3" /><Relationship Type="http://schemas.openxmlformats.org/officeDocument/2006/relationships/presProps" Target="/ppt/presProps.xml" Id="Rab41187ad90e40b9" /><Relationship Type="http://schemas.openxmlformats.org/officeDocument/2006/relationships/tableStyles" Target="/ppt/tableStyles.xml" Id="R14e4079194c448b2" /><Relationship Type="http://schemas.openxmlformats.org/officeDocument/2006/relationships/slide" Target="/ppt/slides/slide1.xml" Id="Rcd9adc732bce4c27" /><Relationship Type="http://schemas.openxmlformats.org/officeDocument/2006/relationships/slide" Target="/ppt/slides/slide2.xml" Id="Re6427d2b38cf4f02" /><Relationship Type="http://schemas.openxmlformats.org/officeDocument/2006/relationships/slide" Target="/ppt/slides/slide3.xml" Id="Rc6ea3813fdd84f91" /><Relationship Type="http://schemas.openxmlformats.org/officeDocument/2006/relationships/slide" Target="/ppt/slides/slide4.xml" Id="Rb9c381f7fd1f47ae" /><Relationship Type="http://schemas.openxmlformats.org/officeDocument/2006/relationships/slide" Target="/ppt/slides/slide5.xml" Id="R38c7303445cb46f0" /><Relationship Type="http://schemas.openxmlformats.org/officeDocument/2006/relationships/slide" Target="/ppt/slides/slide6.xml" Id="R77cfb81307e34ab9" /><Relationship Type="http://schemas.openxmlformats.org/officeDocument/2006/relationships/slide" Target="/ppt/slides/slide7.xml" Id="Rd047a685e052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d95a269d5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c3ac824604ad2" /><Relationship Type="http://schemas.openxmlformats.org/officeDocument/2006/relationships/notesMaster" Target="/ppt/notesMasters/notesMaster1.xml" Id="Rc62ef83748354e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19243e98d4340" /><Relationship Type="http://schemas.openxmlformats.org/officeDocument/2006/relationships/notesMaster" Target="/ppt/notesMasters/notesMaster1.xml" Id="Rdda57fcd6dff40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e4da159c30446c" /><Relationship Type="http://schemas.openxmlformats.org/officeDocument/2006/relationships/notesMaster" Target="/ppt/notesMasters/notesMaster1.xml" Id="Re002da519779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e4fbb2ff714de2" /><Relationship Type="http://schemas.openxmlformats.org/officeDocument/2006/relationships/notesMaster" Target="/ppt/notesMasters/notesMaster1.xml" Id="Re15f8f691a7943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52781eb0a34caa" /><Relationship Type="http://schemas.openxmlformats.org/officeDocument/2006/relationships/notesMaster" Target="/ppt/notesMasters/notesMaster1.xml" Id="Rcef4f06f730840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3ba901ec424e56" /><Relationship Type="http://schemas.openxmlformats.org/officeDocument/2006/relationships/notesMaster" Target="/ppt/notesMasters/notesMaster1.xml" Id="R481d7ade9f1f49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81f9e89b2041d7" /><Relationship Type="http://schemas.openxmlformats.org/officeDocument/2006/relationships/notesMaster" Target="/ppt/notesMasters/notesMaster1.xml" Id="R00a087a35aac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https://www.dailypress.senate.gov/</a:t>
            </a:r>
          </a:p>
          <a:p xmlns:a="http://schemas.openxmlformats.org/drawingml/2006/main">
            <a:r>
              <a:t>https://www.congress.gov/bill/119th-congress/house-bill/3633</a:t>
            </a:r>
          </a:p>
          <a:p xmlns:a="http://schemas.openxmlformats.org/drawingml/2006/main">
            <a:r>
              <a:t>https://www.banking.senate.gov/newsroom/majority/icymi-chairman-scott-calls-for-senate-action-on-clarity-act-highlights-momentum-for-digital-asset-market-structure-on-fox-business-mornings-with-maria</a:t>
            </a:r>
          </a:p>
          <a:p xmlns:a="http://schemas.openxmlformats.org/drawingml/2006/main">
            <a:r>
              <a:t>https://www.banking.senate.gov/newsroom/minority/new-banking-minority-staff-analysis-identifies-five-major-loopholes-in-digital-asset-market-clarity-act</a:t>
            </a:r>
          </a:p>
          <a:p xmlns:a="http://schemas.openxmlformats.org/drawingml/2006/main">
            <a:r>
              <a:t>https://financialservices.house.gov/news/documentsingle.aspx?DocumentID=410816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b36b4236c49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0139fd2754efd" /><Relationship Type="http://schemas.openxmlformats.org/officeDocument/2006/relationships/slideLayout" Target="/ppt/slideLayouts/slideLayout1.xml" Id="Rb74bc00e075542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bc00e075542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1887a88454a9d" /><Relationship Type="http://schemas.openxmlformats.org/officeDocument/2006/relationships/hyperlink" Target="https://brief.bridgexcapital.ai/editions/005-clarity-reaches-the-senate-floor/" TargetMode="External" Id="R7349f18f19fe43cb" /><Relationship Type="http://schemas.openxmlformats.org/officeDocument/2006/relationships/notesSlide" Target="/ppt/notesSlides/notesSlide1.xml" Id="R0e6b67e5ef2542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9ce8046984a51" /><Relationship Type="http://schemas.openxmlformats.org/officeDocument/2006/relationships/notesSlide" Target="/ppt/notesSlides/notesSlide2.xml" Id="Rf75da9db2d0c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59aaf31f24edc" /><Relationship Type="http://schemas.openxmlformats.org/officeDocument/2006/relationships/notesSlide" Target="/ppt/notesSlides/notesSlide3.xml" Id="R224ffdac1a1d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c9325751a47cd" /><Relationship Type="http://schemas.openxmlformats.org/officeDocument/2006/relationships/notesSlide" Target="/ppt/notesSlides/notesSlide4.xml" Id="R9c867381269748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5004b33004089" /><Relationship Type="http://schemas.openxmlformats.org/officeDocument/2006/relationships/notesSlide" Target="/ppt/notesSlides/notesSlide5.xml" Id="Rfc0b33e4d5d64a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71a1b102d4267" /><Relationship Type="http://schemas.openxmlformats.org/officeDocument/2006/relationships/notesSlide" Target="/ppt/notesSlides/notesSlide6.xml" Id="R46ca5e06d1434f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1dbb5bab747b1" /><Relationship Type="http://schemas.openxmlformats.org/officeDocument/2006/relationships/hyperlink" Target="https://brief.bridgexcapital.ai/editions/005-clarity-reaches-the-senate-floor/" TargetMode="External" Id="Rcfe676c9e0ec4511" /><Relationship Type="http://schemas.openxmlformats.org/officeDocument/2006/relationships/notesSlide" Target="/ppt/notesSlides/notesSlide7.xml" Id="R2ab24920137d47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148216-DEDD-4D35-A477-FA1BB30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734FE-AE93-44E1-8ADE-F8FAB31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903E8-B6A2-4F96-8CEC-AE0C99BB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33E18-4C40-429F-B59E-F1F3F4E3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8D0A2-9D98-4CA7-90EF-6FAB492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11938-77C9-423C-85C8-A5D5AE01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BD67-914A-4133-9D99-E3B0586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A3575-4D22-4015-B982-96B32B0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61CA7-FC0A-4E77-B5C2-9ABA15D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D88FD-5AD9-4752-BDAB-05DC698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B4573-7C39-4222-A3E6-5AD31B48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695F3-572E-407A-833A-CCCA22E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7C09C-6D01-441E-894D-CADC89C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76B8B-1916-46D8-A7E3-EC9C59ED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4D74E-6AC2-4F3D-BC30-CA03C19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D4BA5-E43F-4F63-BC54-96E610C3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B3286-8967-4BD5-A167-6AB4DA41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0ECFA-BE32-41B0-865F-46703895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70610-F475-4C5C-9EAB-79A2EBFD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3D482-6E79-49A0-817A-B99BF1E5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DAF96-55DE-4970-A672-6FC956BA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4E6BF-D2C5-46F6-928A-1ABA838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A56F6-E840-4629-9747-64E761BC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FDD41-6431-4581-B3F2-87962B1D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461428-015F-4775-8531-DE0BA38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C0B11-EA37-4382-A4EC-383AEB0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B2D5D-4713-4990-8ABD-9CBFA8F5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865D89-5B00-4551-AF22-13A56154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0A30B-5CF9-4E35-A851-93BEADE0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F9E07-CC60-495A-97C6-5302D29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A724E-E028-44E0-8939-4CB3ED18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C6113-2512-418C-9CB3-F784906B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7EE97-48E2-46B2-9C49-3982FB3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82757-4977-464C-B8F0-9DAF3E78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BCAD7D-C52E-4CFC-9930-1221397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F5610D-7DAA-4909-8EFC-EAF0BD0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0F5CD-0E3D-47C9-BF1D-4B1E9AC5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06D21-D3B6-4C7F-B721-77E31DF9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B949BB-953E-46C1-9E15-C758D39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906D84-DE36-45EE-97D1-9E12D7F8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E4699B-00BA-4D0C-B822-15A63FD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28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675FE2-F1DB-4180-A4DF-447BF57D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28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EA665-C729-43E5-986D-FC0B54D6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96908B-AF0D-4FAA-8303-6AB6452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F1A49B-6F14-4BF1-B44D-15DB677C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E4CC61-9585-42BA-BEE9-77ABF7F1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1EB4C1-0EFE-4419-81D2-7B12C538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098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CLOTURE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5609BD-4C7D-44EB-A854-55FF6F45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479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FILED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D93D1E-CE05-4ED5-A858-F2A7C33B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3528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MOTION TO PROCEED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BC159F-6B44-4A10-AB3C-3E0791D6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28700"/>
            <a:ext cx="46672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39"/>
          </a:solidFill>
          <a:ln xmlns:a="http://schemas.openxmlformats.org/drawingml/2006/main" w="38100">
            <a:solidFill>
              <a:srgbClr val="D7B35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BDFF61-C56A-436B-8C06-F032E3F6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SENATE FLOOR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E28000-D55B-4B37-A34B-2B38E706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57400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CBC009-BE72-4047-8DD6-E3F30113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VOTE GATE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2CE3AE-C8B1-4DB3-8584-11583279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PROCEDURAL MOVEMENT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36CBD0-4BC5-4DC6-9BD5-FC496A5D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6954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CA88DF-5985-4210-91CF-B967764A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2098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FINAL LAW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418B55-9F9C-4817-9C2D-8DF508BF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6479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NOT YET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FE15E4-343B-4B0E-B271-BDBAF67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3528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DEBATE · AMENDMENTS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0324D3-978F-4911-B82B-D1656CAB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57825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2230"/>
          </a:solidFill>
          <a:ln xmlns:a="http://schemas.openxmlformats.org/drawingml/2006/main" w="19050">
            <a:solidFill>
              <a:srgbClr val="26414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DFEA05-F184-4957-9804-A5BD43F3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6007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MOTION  ≠  COMPLETION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F3FB0C-38BB-41C5-AFD5-686A135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CLARITY ACT REACHES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820EFF-4055-4E26-88E6-50F22C22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THE SENATE FLOOR.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AA5D1F-06D8-4CE0-AC06-35F81102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81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AMERICA'S DIGITAL-ASSET RULEBOOK IS CLOSER — BUT NOT COMPLETE.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A26076-70A4-49BC-9C03-A05624A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12470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37D"/>
                </a:solidFill>
                <a:latin typeface="Arial"/>
                <a:ea typeface="Arial"/>
                <a:cs typeface="Arial"/>
                <a:hlinkClick xmlns:r="http://schemas.openxmlformats.org/officeDocument/2006/relationships" r:id="R7349f18f19fe43cb"/>
              </a:rPr>
              <a:t>READ THE FULL BRIEF  →  BRIEF.BRIDGEXCAPITAL.AI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DC14F2-7FDD-471B-98EA-D5EC300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056808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DCE100-1199-4E94-B011-2FBD223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2DD86-EAE8-4B56-8A24-56F77AB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31B46-252D-49F0-AB29-7C0CEF60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7D2F9-E7F1-4B25-831F-7345608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8C6AA-8F26-407A-8B3B-F150B76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0348C-C939-433A-B37F-7F5028A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CC5AD-4187-446F-9DEF-8D1B86F8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E6B1B-25C5-4AEF-A6AF-9D9CC93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18AF3-71F3-44E7-9C01-F50F0879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B5833-0016-45E3-9ECB-414E2E2B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93DB8-2FC1-44A7-8780-1E35B261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34FA2-29D8-41A9-93EB-8EA27A67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5CFF2-2102-4C5B-A85E-BA18B20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6916-8C64-426D-B8D2-5C042A1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81779-1157-4456-BA1A-8632F91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6BE92-96B6-4CA5-823C-6D565E8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2C3C7-33C1-47F8-B269-6F818789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B999A-2B8B-4EB0-B3A1-72C4C39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99C44-35DA-4EFD-BB31-99B4FDD3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E004C-43D0-4680-BCEE-FDA1E7D8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EC071-07F4-4F6C-A080-071D4C8A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C9F69-09CD-465E-8870-2338211F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A4CE0-EA28-496E-BD13-A0406DE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CD7F7-CA85-4DC8-9B81-D0A45F66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95C48-B8F5-4B19-BD44-B32E23E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8C829-1F38-4A72-BE58-34446B16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5F41C-C255-4B6A-B47A-FDC33699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FCFD0-9B99-41A6-986A-0AABE70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AC8DC-8EFE-4B8B-AC9A-2CE2CE1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7987C-C1D3-4699-B261-353669E1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2BC0E-561C-4D12-958C-6F4F8821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D5DEA-A3F6-4302-A6DD-81C4D98E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0CF6E4-C8AF-4182-BCFB-42A37E6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6ED7A-C8EF-419F-BC7C-65793A2F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183FC-33E6-484F-8B43-C177D752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E3B5E7-FBA2-4ED8-8E42-A332AA95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THE PROCEDURAL 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EE4FFE-3063-4133-8A65-FDB9DC80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2DCAA0-A59C-438D-B9B0-F509C34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E7D869-0044-4FBB-B91D-8E312581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2C1AFE-64D9-4BC9-84A2-BC8ECA0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9ABDDC-B7B9-4A99-9997-79D43602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SENATE MOVED THE PROCESS FORWARD.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9BF12C-3624-45A0-9B95-92D2C6F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That matters. It is not final passage.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15BE6D-C128-461F-AD53-DA12BB12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57750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41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861280-E25A-4C71-9E69-B54193F4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41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E7B1E5-16DC-465A-BFF6-C4C88B68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D4CAE8-950F-4906-BABD-79D95DE4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HOUSE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BB8623-5350-4BEF-B475-F6C460A7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294–134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7EF8F4-AEFC-4891-A7FE-5577A520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PASSED · JULY 2025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C5502D-23EA-47D7-9C23-4F70CFA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3C8925-FEBC-4DB2-B853-C4A5709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386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SENATE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B2E37B-90C7-4EC1-B410-214286F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767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CLOTURE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288284-4695-4F79-81A1-0928557C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816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FILED · AUG. 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5931A9-648D-419A-AA8D-C6BDC717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524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67422-9569-4DEA-9E66-0F6B91CA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386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A91EC5-4ED4-48A0-8CF9-0919F03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4767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60 VOTES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9904C0-E433-47F9-9C2E-39FD0179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1816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MOTION TO PROCEED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69E100-A98F-4313-9929-AA415E7B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858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Senate returns September 14. Debate, amendments and final votes still remain.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DEE158-9C7B-40DD-A2AD-FAB0408A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750177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B3B3C5-51DB-493B-837B-FAE4B6E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91726-AC62-4567-BEB1-8E3CAB27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5052A-2836-461D-A8D3-275E5192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F795B-20B1-498A-AF73-2174560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02502-42E0-4233-B353-31EDC0E7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1A501-D51D-4F7B-BFD1-68236C6B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5AA18-5AC6-4D94-A056-DA2CDFAC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CEE51-43CD-4C83-92F6-A0B3A9D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1818B-2CD1-4316-809B-3C39B06C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820CF-3D24-4A37-9576-7DDAAF9F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04373-3FD3-4DE9-AF90-877E6113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8E709-B888-41A2-9751-D83CF9CD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EC043-414A-4209-B93C-37385378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2D6BB-9FFB-41B0-A181-04D3342B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237A6-2797-48EF-A0D9-3770AF66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7EC7C-BD36-4D39-A2F7-85FEE4D8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6B8F8-C1E4-49F9-AFCD-F086FAC3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24A9B-3CBF-4694-8CDA-4812AC03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40A6C-21CF-4849-BE92-1B212FA2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2F808-5653-4712-962C-499D225E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4A6FA-4330-4B60-9B09-4C2DAE27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32AAB-73E1-4009-88AD-B5AA644D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C4385-5666-4DF4-9F40-A8248563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CAF85-6C3B-47A3-B005-9C4C7E00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366F6-C019-41A2-BE4D-55D6BDF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D95AC-7CE0-4882-9BF4-EBC1E6C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96E03-1AAB-4B22-9AB2-3A17C66E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5B507-E8F5-47C0-98EE-1215FDDF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464DB-C618-4DC8-B117-EABC1B30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5CB7BF-61A8-436E-8D31-59E85A92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2DF9D-AB48-4CE6-A586-8BDB2422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D123A7-3279-4145-86AD-C1DD8453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C333E9-D147-4457-8C74-30BAAAC0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E0FDA9-796E-4B39-BACD-A20223E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6FFD74-34C3-4A40-B94A-ED45EDA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903003-EA9A-4252-A790-E12DDDCF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WHAT CHANGED — AND WHAT DID NOT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EACB2-5B20-4FA1-B240-2BF5E55C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EADC24-DCF0-4101-ADA9-A1ED9F3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604D28-C28A-49CB-846C-D558F2C8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9CA9F4-7910-4630-8269-07435C3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FD7E04-C9A2-42D1-B0CF-ED0E2EF0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MOTION IS NOT COMPLETION.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46530C-70AF-4152-A70E-659534C9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0" cy="411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6CA257-9BC3-46A3-9833-C1D1B5B8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WHAT MOVED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A6AEA7-8D95-4937-8617-DE97A53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Senate leadership filed cloture.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The bill entered a live floor process.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A national rulebook moved closer.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8209B9-7BD8-4256-BFB3-DC53155F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78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7878"/>
                </a:solidFill>
                <a:latin typeface="Arial"/>
                <a:ea typeface="Arial"/>
                <a:cs typeface="Arial"/>
              </a:rPr>
              <a:t>WHAT DID NOT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28599A-7750-4B54-A7A0-FA7B607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The Senate did not pass the bill.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The legislative text is not final.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• Agencies have not implemented rules.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836A15-BFB9-4DED-ABA5-7A8FA2E2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532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THE SIGNAL: MOMENTUM IS REAL. CERTAINTY IS NOT.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1140EB-B2B5-40DA-AAA1-EBE4C2A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512777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A0088D-73E4-464F-902C-78FED1C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CD018-A6D3-44F7-BE08-BC16B867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5A686-5391-4BB1-970A-232861D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0EF01-A475-412D-95D6-DCEB4F20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83EC7-5237-411A-ADD8-8BC82287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ECD6C-9F62-4E4A-ADB3-9C6C3B59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3A4CE-1BBC-43ED-9EE9-2BAB7528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D639E-521A-4AFB-A1C2-6C331593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6FBD9-F615-4E87-8FDC-34AB067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F29AD-1777-4E74-9361-57010B7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A58D2-6C9F-42BC-9AE8-DED7B29B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264A6-6700-4575-9543-F466C37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F6162-72B0-4EB6-ABC2-3C343BB2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93BC2-88D7-403C-9E32-AEEA145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EB51E-FAD3-4D15-8F37-C15121B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6AD37-8D67-434E-91CF-03865449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3A7B9-BF44-4488-8A9A-9361C6B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8B427-B28B-4C4B-A54A-65D6950E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6B046-49B5-43D9-A626-ACFCD13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44A09-F9C1-471F-86D7-91248FF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AF70D-88F7-4F9A-910C-DF2779D6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DE255-3C2D-4622-983A-E62425F5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FD3BA-801A-43D1-A466-CE173DD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8748C-0326-45D2-B3C0-3F18B8E0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197E2-060E-494F-B34B-8F720C7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2BE74-B2CF-4CDE-B2F9-7EE9A53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6AA60-EE50-42D9-9380-51F5A403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35AF5-D003-40E9-83CC-2684FB33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F45C2-829B-486E-B295-6BCAFCA5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B7011-BF8F-4A36-B279-DC1F742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65483-D34D-4F51-8BCB-174C82D3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2B6996-CA72-429A-8121-4E84FC3A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785A1-A775-4079-B14D-9AACB7E5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1B0AA-7FA1-4E10-B8AD-0C1CDE5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76D3AE-1546-4B01-837C-3BA70C1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839295-AB60-40D5-8E09-91F717F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WHAT THE RULEBOOK MUST RESOLVE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0DBCA-17E8-4CDF-BD1E-C79EA6A2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ABC24-671B-4DAC-8AF2-3722CE1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1A25D9-AAE6-4DAC-BAC8-A0D1BE1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FEAE2F-D152-4C7C-859A-1C702219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579502-D493-4E6C-8870-44DAC1BF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REAL QUESTION IS WHO REGULATES WHAT.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B08543-E27D-44FD-AF3F-C751A05B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2F75D7-E3A8-4A4E-B182-DBC3836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872E41-08B7-40B9-9282-D33F8EB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D16DD-B167-4377-82C0-FFA89E4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39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2A12B4-1DC4-4752-A6EA-4CB0B214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DIGITAL-ASSET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MARKET STRUCTURE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01E8EE-988D-489F-B609-F7164C7E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4C5EBB-030A-44B3-9DF5-ACE8CAF2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76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JURISDICTION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3F521F-7165-490E-8540-0429F4DC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150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737637-72BB-4FE8-A13F-B76C7D87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198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SECURITIES · DISCLOSURE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470BA1-DEC5-4CD8-B3C7-5018847D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AC3549-4B50-4BCE-BB8C-A89DFF2A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276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JURISDICTION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F9D4F7-0477-44FB-B753-E2B32B8F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CFTC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E16F2A-9D8F-4881-807F-FFD5BD5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COMMODITIES · MARKETS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F3F384-E69B-45DA-8018-0DD57F5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122A71-F0ED-45FF-A93E-3704374C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5312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Registration · custody · customer assets · conflicts · decentralization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EB5C70-FEF6-4C83-B15B-0EE39724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14175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645BB6-6AF5-46E7-9251-8F71D6E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5DA6F-D5AE-4C82-BCDE-A02C35D0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E8166-276A-4B27-8C08-69A7AFB7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232E6-2C60-469D-861D-A510CE6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4B1D3-76E8-46DB-9BC0-061B9177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33AD0-EB53-4DCA-95A3-8E74FFF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9504C-B708-4651-B566-BC53AEF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D53E8-7630-422E-BCC4-57E907D1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DAEBB-0224-4CD0-80AE-55BC268C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FD938-5B22-4817-907A-8996086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C2164-F06A-4F7D-9D22-015BCAF3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3F73D-EE5B-4081-A6AC-2E7AF13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CC9E9-7ABB-45D2-8134-8207BCEB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B709C-CFFF-46BB-ADCB-99F34935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2E5C9-1B3E-4F0F-A928-D9F0CE7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C6136-6316-413D-93C3-BE7C305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FD4C8-E345-4472-B5EA-AF4CA04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3A0BB-231B-4B7A-8AAC-2497374B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11C8B-1949-45E0-8079-0A7F9863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0EE72-363A-497F-8B0A-273680A1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CEC00-2346-4EA1-92BF-596E5125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6C217-EB7A-4B25-8B8E-746FD6C0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47110-985D-448D-9E04-4EE1978B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ADBA0-C63B-49A6-ADE2-C35A803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9A489-C08E-4C5B-A7A5-8BD85702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930DB-419D-4518-9413-E9C52F3D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4D61F-E9D6-4009-99C8-01999868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060E9-17F9-463E-AEF9-48D8C08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538607-1A15-4364-99E8-8AC35CBC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F0CDD-CB43-4AA2-974A-C4800F38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8496F-0BC4-4D4C-909A-5FBBB743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70079-C464-4129-A883-533AA530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5E0F83-7346-41F9-A3BB-7D0CE866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84250-FB86-4145-9004-E0B0492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9C24BC-A32B-4F51-8AB1-5C7A699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257837-454B-47B8-9DD0-95A00BE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THE FLOOR FIGHT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116687-18F7-4C8C-BCF4-6228719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65787A-DDC5-4155-BDE2-500B5DA9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933579-2013-463B-9453-4B13DFC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CF036B-B50F-4C8A-A42B-979791B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FDC0BC-FD97-4E8D-A04C-3149DE3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TWO TRUTHS MUST SURVIVE THE DEBATE.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809FA7-CE52-4C14-A5EE-41566881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0" cy="414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A8565B-048A-4C4E-B9B3-B135C567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COMPLIANT INNOVATION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598CD3-4BE7-4CA9-AE2C-E32C10D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7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Clear rules can keep responsible builders, capital and infrastructure operating in the United States.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45599C-6B2D-4373-9B8D-7466ADC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upside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3FE25D-845E-4670-87A0-1D4DF474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722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More competition. Better products. Stronger domestic rails.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893BF8-92CF-4E3B-95E4-48BCF63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ENFORCEABLE PROTECTION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80990A-1BB8-496E-AD23-DCA024DE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52875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75" b="0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F5F1"/>
                </a:solidFill>
                <a:latin typeface="Arial"/>
                <a:ea typeface="Arial"/>
                <a:cs typeface="Arial"/>
              </a:rPr>
              <a:t>Clarity still must confront fraud, conflicts, market manipulation and illicit-finance risk.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72B592-853E-43B4-934B-6BD1ACCC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The standard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C0FE1D-A37F-42C4-8A43-130E028A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5722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Innovation without accountability is not durable infrastructure.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F6530C-DB61-44E5-8F24-CA40692C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2070908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02685F-7E24-4342-A3B8-B57BE1B2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D1B99-74EE-41B5-A1C3-8C746CE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99E94-E520-4057-BA39-86A896D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D2B86-FF08-4CAC-B6F0-3982C6D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2472A-07B1-4D70-9EA2-E08F9E6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7B8C-10BB-4FDF-9D2F-6732A3A6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B479D-8E99-4B51-B0AA-CC07952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1CBC-10AB-410D-8BA5-62A1B45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C9CE8-3287-42CC-AD2B-24F9EF12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6D929-2E21-4D06-9475-76101EC9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C5873-CA64-4DF3-B6ED-6966F71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E5DCB-CE54-4B03-A774-FF09C5B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AC0AB-454B-48E7-B2D4-E1F01C6A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875C4-97A4-4D28-B629-5B0CDB9E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8A02E-F007-419B-9EFF-C723E346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3C120-A5E4-49B3-A245-C0A0A024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4515C-F084-40D7-A24D-AFCB71E2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F783F-B1BD-488B-90D3-5952DEA1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680E4-0AAE-4C14-A969-BC07545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272E4-9A8D-4BB1-8E0B-6B9BE36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3EEAC-DE71-4549-88B4-5BB1ED70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78560-8D56-4B6C-A7BA-840792A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DBE26-7849-4558-A718-0AC8C0B1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9D0CE-4BF7-4B6F-B98E-2446B05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98AB5-AEF3-4C3A-841A-E2E2513A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6558B-4F50-4CD0-B91B-99762EA1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DB2EA-1A09-4B50-AA3E-7C69E26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ED2A6-8A19-415D-8670-46A9D0C0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ABE43-36AE-4AF3-887A-81AE558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FD490-265E-4B21-B111-F151EAE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0D0E7-CF84-496B-BA4B-639345F1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56D33D-FD6B-4A4E-90BB-55186F62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B9BB5-D405-4681-BE6F-F0C64BC5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5746E5-3F87-48D6-8C08-382B68BA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DE3C10-2500-4526-9A6F-F8DFBEF4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C83AF-C3AB-4400-AE38-87178FC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THE MAIN STREET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03190-9D00-4CBA-AAA9-E13144C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E872FF-FE5D-49D2-A998-74925298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AD12D2-1E45-4FFD-A47C-1E8B4AE4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1E6C59-ABF2-459B-BE63-6C61806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938A7A-549D-4676-ACE2-B7817479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IF THE RULES WORK, PEOPLE SHOULD FEEL IT.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C2B522-CCFE-4CDA-BDDB-8913212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958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671A35-9D8A-479A-AC45-D552E5A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958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41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6FF204-B9AA-4297-9D9E-557B28A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58B8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29F357-04CD-4BE0-A2BC-045B57BC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2291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1540AE-8302-4101-A1F2-DB5AE40B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672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32C851-E37B-487E-A168-F18CBB47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3721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TRUSTED INSTITUTIONS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CA309C-1A18-4931-95C8-4FDA4D1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D7B35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FACB2-C8BF-4438-9DAE-0C757F56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4953D2-8256-4FF3-8AE7-DA8270A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2E2F88-717E-4FFA-BF03-FFBEFEBB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721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CUSTODY · REMEDIES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1EB611-0ED5-4278-BAE1-63AAE24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714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30"/>
          </a:solidFill>
          <a:ln xmlns:a="http://schemas.openxmlformats.org/drawingml/2006/main" w="28575">
            <a:solidFill>
              <a:srgbClr val="35D37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A7B4D2-4CA9-4A86-9BA9-6B1761D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2291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87F0A6-2AC7-40DE-A556-B28607B5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6672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7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COMPETITION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4363B0-3BEE-490A-92E8-D4B0A4F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3721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MORE RESPONSIBLE CHOICE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B1AFE7-340D-4B8F-A291-D25A4E95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953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A rulebook succeeds when customers understand ownership, fees and recourse — and when credible institutions can compete.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A5183A-C31B-4ADE-9F9E-4DA4D24B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PRIMARY-SOURCE RECEIPTS · EDUCATION BY DEFAULT</a:t>
            </a:r>
          </a:p>
        </p:txBody>
      </p:sp>
    </p:spTree>
    <p:extLst>
      <p:ext uri="{BB962C8B-B14F-4D97-AF65-F5344CB8AC3E}">
        <p14:creationId xmlns:p14="http://schemas.microsoft.com/office/powerpoint/2010/main" val="1260020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AC0BAA-EACA-4BC9-9D30-2719DE8C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99C8-6BF8-4736-9E42-578B91AC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A88C1-073C-41B1-B731-0F7C722C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F52F-80D7-444A-A2CE-84B173A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394E8-0112-44A7-8451-56D0F9F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7C3B8-1426-404D-8B7D-B05CEAA3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2C105-90DE-4345-9A8B-2815A35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24E5B-CF89-40FB-A7CE-92BB5BF7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57CC7-6ABB-439C-9E2E-674432C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8ABD8-33F7-4D1E-B771-B2967F22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0F365-A4C0-4CF7-BFC4-59B54D2D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F1F35-1876-4CA1-9D17-A82FB9D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9B5F6-232F-4978-B088-83FA59D5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E9639-8C42-4738-9878-F8EF0A6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F819C-744C-414B-AE18-5A6295C4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784BA-6BE1-41BC-B937-AF12637F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90776-2218-46EF-A86C-39664536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3CEB1-AB27-4FC0-8869-EC6C1AF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E6E8E-8411-4AFA-AB3C-A136275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96A4F-438B-4BDC-982E-978E94C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6B812-FB8A-45F0-8E85-4E08C26C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8C700-5F23-464A-92C2-D09B6868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18A08-9546-4BC8-BCF3-14F78A4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0895B-BB4C-40C5-8159-AE6D1F69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3A21C-3A51-43EC-82AC-21E97669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0739D-89CD-4B57-88E4-44A2F08B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8EB92-994B-4B02-BCAB-1A35907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64CBC-D665-4DE0-B2EE-6C00399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6C6E6-5F8F-49B2-B59E-B0FDDBEB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0F391-1D1F-4704-A8BF-3D36216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A922DE-5577-4841-A5B9-EF17A8E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51ADED-1928-4ED0-B291-874B27A4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511377-5F85-47EE-BECC-46DA0B07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7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D9BFBC-0427-42F9-853B-4B0C4831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3E7313-D37E-4FE3-A2EB-4C0216F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THE BRIDGE X BRIEF · EDITION 005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7F264-FE49-4C45-BA3C-EFF613C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READ THE FULL SOURCED BRIEF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2B163E-8579-4723-8CF8-DED8FB7D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19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40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BXB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308A5E-0C4E-4530-833A-5EB0CB09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858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911FA9-8DA7-42E6-80BE-8F77A83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39150"/>
            <a:ext cx="1123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10F9F5-73A6-412C-B125-31DE3A16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391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393A04-161D-47E8-BBB5-9C32EF2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EDF5F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DF5F1"/>
                </a:solidFill>
                <a:latin typeface="Arial"/>
                <a:ea typeface="Arial"/>
                <a:cs typeface="Arial"/>
              </a:rPr>
              <a:t>THE VOTE MAY BE CLOSE.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033BB0-3F82-465B-B71B-82786E61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THE WORK IS MUCH BIGGER.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A12AB5-2818-47C6-A5A0-B035C4F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B7B5"/>
                </a:solidFill>
                <a:latin typeface="Arial"/>
                <a:ea typeface="Arial"/>
                <a:cs typeface="Arial"/>
              </a:rPr>
              <a:t>Bridge X Brief 005 separates the procedural signal from the headline noise — then maps the regulatory, institutional and Main Street implications.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BD0B77-C249-46BD-88AF-86454FB2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9620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E2A39"/>
          </a:solidFill>
          <a:ln xmlns:a="http://schemas.openxmlformats.org/drawingml/2006/main" w="19050">
            <a:solidFill>
              <a:srgbClr val="D7B3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481E9A-274F-403D-9731-C0559C0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D37D"/>
                </a:solidFill>
                <a:latin typeface="Arial"/>
                <a:ea typeface="Arial"/>
                <a:cs typeface="Arial"/>
                <a:hlinkClick xmlns:r="http://schemas.openxmlformats.org/officeDocument/2006/relationships" r:id="Rcfe676c9e0ec4511"/>
              </a:rPr>
              <a:t>READ EDITION 005  →  BRIEF.BRIDGEXCAPITAL.AI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EB529D-BC4B-417D-9C2A-BDBC1879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10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D7B3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B35C"/>
                </a:solidFill>
                <a:latin typeface="Arial"/>
                <a:ea typeface="Arial"/>
                <a:cs typeface="Arial"/>
              </a:rPr>
              <a:t>EXECUTIVE INTELLIGENCE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66FA9-B2D6-4F3E-A01C-8F504F5D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33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35D3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7D"/>
                </a:solidFill>
                <a:latin typeface="Arial"/>
                <a:ea typeface="Arial"/>
                <a:cs typeface="Arial"/>
              </a:rPr>
              <a:t>EDUCATION BY DEFAULT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6ADFC0-25FE-4493-BDD4-49207BE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857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8B8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B8DF"/>
                </a:solidFill>
                <a:latin typeface="Arial"/>
                <a:ea typeface="Arial"/>
                <a:cs typeface="Arial"/>
              </a:rPr>
              <a:t>PRIMARY-SOURCE RECEIPTS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C9AA2E-8F13-4E26-A072-671C117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53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DB7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7B5"/>
                </a:solidFill>
                <a:latin typeface="Arial"/>
                <a:ea typeface="Arial"/>
                <a:cs typeface="Arial"/>
              </a:rPr>
              <a:t>BRIDGE X CAPITAL.AI · WEEKLY EXECUTIVE INTELLIGENCE</a:t>
            </a:r>
          </a:p>
        </p:txBody>
      </p:sp>
    </p:spTree>
    <p:extLst>
      <p:ext uri="{BB962C8B-B14F-4D97-AF65-F5344CB8AC3E}">
        <p14:creationId xmlns:p14="http://schemas.microsoft.com/office/powerpoint/2010/main" val="408593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2026-08-09T17:44:23.7220000Z</dcterms:created>
  <dcterms:modified xsi:type="dcterms:W3CDTF">2026-08-09T17:44:23.7220000Z</dcterms:modified>
</coreProperties>
</file>