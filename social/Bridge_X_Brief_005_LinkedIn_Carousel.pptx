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311963aff574af5" /><Relationship Type="http://schemas.openxmlformats.org/officeDocument/2006/relationships/extended-properties" Target="/docProps/app.xml" Id="Rcd23cdad83ef4dd1" /><Relationship Type="http://schemas.openxmlformats.org/officeDocument/2006/relationships/officeDocument" Target="/ppt/presentation.xml" Id="Raa00c2a0bd684fe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c6dc6c77c424500"/>
  </p:sldMasterIdLst>
  <p:notesMasterIdLst>
    <p:notesMasterId xmlns:r="http://schemas.openxmlformats.org/officeDocument/2006/relationships" r:id="Rdb3336a2eb8c4493"/>
  </p:notesMasterIdLst>
  <p:sldIdLst>
    <p:sldId xmlns:r="http://schemas.openxmlformats.org/officeDocument/2006/relationships" id="256" r:id="R555df510949248c1"/>
    <p:sldId xmlns:r="http://schemas.openxmlformats.org/officeDocument/2006/relationships" id="257" r:id="Rd92fc1eee4ae4f09"/>
    <p:sldId xmlns:r="http://schemas.openxmlformats.org/officeDocument/2006/relationships" id="258" r:id="Rd4a5d65a2dfc4dcf"/>
    <p:sldId xmlns:r="http://schemas.openxmlformats.org/officeDocument/2006/relationships" id="259" r:id="R5687c285aad34d08"/>
    <p:sldId xmlns:r="http://schemas.openxmlformats.org/officeDocument/2006/relationships" id="260" r:id="Rfffba3d74e6f41af"/>
    <p:sldId xmlns:r="http://schemas.openxmlformats.org/officeDocument/2006/relationships" id="261" r:id="R9d6f9012d5ff4b41"/>
    <p:sldId xmlns:r="http://schemas.openxmlformats.org/officeDocument/2006/relationships" id="262" r:id="R439ce1c169b4409f"/>
  </p:sldIdLst>
  <p:sldSz cx="15240000" cy="85725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396d6a5f18f446a" /><Relationship Type="http://schemas.openxmlformats.org/officeDocument/2006/relationships/slideMaster" Target="/ppt/slideMasters/slideMaster1.xml" Id="Rbc6dc6c77c424500" /><Relationship Type="http://schemas.openxmlformats.org/officeDocument/2006/relationships/notesMaster" Target="/ppt/notesMasters/notesMaster1.xml" Id="Rdb3336a2eb8c4493" /><Relationship Type="http://schemas.openxmlformats.org/officeDocument/2006/relationships/presProps" Target="/ppt/presProps.xml" Id="R13e2a5c535044e36" /><Relationship Type="http://schemas.openxmlformats.org/officeDocument/2006/relationships/tableStyles" Target="/ppt/tableStyles.xml" Id="Rdd5ef3b15bd4490f" /><Relationship Type="http://schemas.openxmlformats.org/officeDocument/2006/relationships/slide" Target="/ppt/slides/slide1.xml" Id="R555df510949248c1" /><Relationship Type="http://schemas.openxmlformats.org/officeDocument/2006/relationships/slide" Target="/ppt/slides/slide2.xml" Id="Rd92fc1eee4ae4f09" /><Relationship Type="http://schemas.openxmlformats.org/officeDocument/2006/relationships/slide" Target="/ppt/slides/slide3.xml" Id="Rd4a5d65a2dfc4dcf" /><Relationship Type="http://schemas.openxmlformats.org/officeDocument/2006/relationships/slide" Target="/ppt/slides/slide4.xml" Id="R5687c285aad34d08" /><Relationship Type="http://schemas.openxmlformats.org/officeDocument/2006/relationships/slide" Target="/ppt/slides/slide5.xml" Id="Rfffba3d74e6f41af" /><Relationship Type="http://schemas.openxmlformats.org/officeDocument/2006/relationships/slide" Target="/ppt/slides/slide6.xml" Id="R9d6f9012d5ff4b41" /><Relationship Type="http://schemas.openxmlformats.org/officeDocument/2006/relationships/slide" Target="/ppt/slides/slide7.xml" Id="R439ce1c169b4409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810506b09aa4ed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15550d94964425d" /><Relationship Type="http://schemas.openxmlformats.org/officeDocument/2006/relationships/notesMaster" Target="/ppt/notesMasters/notesMaster1.xml" Id="Reaffce66893d454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6384a009f624761" /><Relationship Type="http://schemas.openxmlformats.org/officeDocument/2006/relationships/notesMaster" Target="/ppt/notesMasters/notesMaster1.xml" Id="R83c597d5cd01417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bd52d706d16405e" /><Relationship Type="http://schemas.openxmlformats.org/officeDocument/2006/relationships/notesMaster" Target="/ppt/notesMasters/notesMaster1.xml" Id="Rf79a087e4eae43b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b6aeef0bb76424f" /><Relationship Type="http://schemas.openxmlformats.org/officeDocument/2006/relationships/notesMaster" Target="/ppt/notesMasters/notesMaster1.xml" Id="R8d37ca2cc0ac498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fad92205dbc49df" /><Relationship Type="http://schemas.openxmlformats.org/officeDocument/2006/relationships/notesMaster" Target="/ppt/notesMasters/notesMaster1.xml" Id="Rb4e5becd43604cd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2dd5152a8c14910" /><Relationship Type="http://schemas.openxmlformats.org/officeDocument/2006/relationships/notesMaster" Target="/ppt/notesMasters/notesMaster1.xml" Id="Rdd6e53474fa64a0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fc2377e960449ec" /><Relationship Type="http://schemas.openxmlformats.org/officeDocument/2006/relationships/notesMaster" Target="/ppt/notesMasters/notesMaster1.xml" Id="Rd4f7078168774ce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https://www.dailypress.senate.gov/</a:t>
            </a:r>
          </a:p>
          <a:p xmlns:a="http://schemas.openxmlformats.org/drawingml/2006/main">
            <a:r>
              <a:t>https://www.congress.gov/bill/119th-congress/house-bill/3633</a:t>
            </a:r>
          </a:p>
          <a:p xmlns:a="http://schemas.openxmlformats.org/drawingml/2006/main">
            <a:r>
              <a:t>https://www.banking.senate.gov/newsroom/majority/icymi-chairman-scott-calls-for-senate-action-on-clarity-act-highlights-momentum-for-digital-asset-market-structure-on-fox-business-mornings-with-maria</a:t>
            </a:r>
          </a:p>
          <a:p xmlns:a="http://schemas.openxmlformats.org/drawingml/2006/main">
            <a:r>
              <a:t>https://www.banking.senate.gov/newsroom/minority/new-banking-minority-staff-analysis-identifies-five-major-loopholes-in-digital-asset-market-clarity-act</a:t>
            </a:r>
          </a:p>
          <a:p xmlns:a="http://schemas.openxmlformats.org/drawingml/2006/main">
            <a:r>
              <a:t>https://financialservices.house.gov/news/documentsingle.aspx?DocumentID=410816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https://www.dailypress.senate.gov/</a:t>
            </a:r>
          </a:p>
          <a:p xmlns:a="http://schemas.openxmlformats.org/drawingml/2006/main">
            <a:r>
              <a:t>https://www.congress.gov/bill/119th-congress/house-bill/3633</a:t>
            </a:r>
          </a:p>
          <a:p xmlns:a="http://schemas.openxmlformats.org/drawingml/2006/main">
            <a:r>
              <a:t>https://www.banking.senate.gov/newsroom/majority/icymi-chairman-scott-calls-for-senate-action-on-clarity-act-highlights-momentum-for-digital-asset-market-structure-on-fox-business-mornings-with-maria</a:t>
            </a:r>
          </a:p>
          <a:p xmlns:a="http://schemas.openxmlformats.org/drawingml/2006/main">
            <a:r>
              <a:t>https://www.banking.senate.gov/newsroom/minority/new-banking-minority-staff-analysis-identifies-five-major-loopholes-in-digital-asset-market-clarity-act</a:t>
            </a:r>
          </a:p>
          <a:p xmlns:a="http://schemas.openxmlformats.org/drawingml/2006/main">
            <a:r>
              <a:t>https://financialservices.house.gov/news/documentsingle.aspx?DocumentID=410816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https://www.dailypress.senate.gov/</a:t>
            </a:r>
          </a:p>
          <a:p xmlns:a="http://schemas.openxmlformats.org/drawingml/2006/main">
            <a:r>
              <a:t>https://www.congress.gov/bill/119th-congress/house-bill/3633</a:t>
            </a:r>
          </a:p>
          <a:p xmlns:a="http://schemas.openxmlformats.org/drawingml/2006/main">
            <a:r>
              <a:t>https://www.banking.senate.gov/newsroom/majority/icymi-chairman-scott-calls-for-senate-action-on-clarity-act-highlights-momentum-for-digital-asset-market-structure-on-fox-business-mornings-with-maria</a:t>
            </a:r>
          </a:p>
          <a:p xmlns:a="http://schemas.openxmlformats.org/drawingml/2006/main">
            <a:r>
              <a:t>https://www.banking.senate.gov/newsroom/minority/new-banking-minority-staff-analysis-identifies-five-major-loopholes-in-digital-asset-market-clarity-act</a:t>
            </a:r>
          </a:p>
          <a:p xmlns:a="http://schemas.openxmlformats.org/drawingml/2006/main">
            <a:r>
              <a:t>https://financialservices.house.gov/news/documentsingle.aspx?DocumentID=410816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https://www.dailypress.senate.gov/</a:t>
            </a:r>
          </a:p>
          <a:p xmlns:a="http://schemas.openxmlformats.org/drawingml/2006/main">
            <a:r>
              <a:t>https://www.congress.gov/bill/119th-congress/house-bill/3633</a:t>
            </a:r>
          </a:p>
          <a:p xmlns:a="http://schemas.openxmlformats.org/drawingml/2006/main">
            <a:r>
              <a:t>https://www.banking.senate.gov/newsroom/majority/icymi-chairman-scott-calls-for-senate-action-on-clarity-act-highlights-momentum-for-digital-asset-market-structure-on-fox-business-mornings-with-maria</a:t>
            </a:r>
          </a:p>
          <a:p xmlns:a="http://schemas.openxmlformats.org/drawingml/2006/main">
            <a:r>
              <a:t>https://www.banking.senate.gov/newsroom/minority/new-banking-minority-staff-analysis-identifies-five-major-loopholes-in-digital-asset-market-clarity-act</a:t>
            </a:r>
          </a:p>
          <a:p xmlns:a="http://schemas.openxmlformats.org/drawingml/2006/main">
            <a:r>
              <a:t>https://financialservices.house.gov/news/documentsingle.aspx?DocumentID=410816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https://www.dailypress.senate.gov/</a:t>
            </a:r>
          </a:p>
          <a:p xmlns:a="http://schemas.openxmlformats.org/drawingml/2006/main">
            <a:r>
              <a:t>https://www.congress.gov/bill/119th-congress/house-bill/3633</a:t>
            </a:r>
          </a:p>
          <a:p xmlns:a="http://schemas.openxmlformats.org/drawingml/2006/main">
            <a:r>
              <a:t>https://www.banking.senate.gov/newsroom/majority/icymi-chairman-scott-calls-for-senate-action-on-clarity-act-highlights-momentum-for-digital-asset-market-structure-on-fox-business-mornings-with-maria</a:t>
            </a:r>
          </a:p>
          <a:p xmlns:a="http://schemas.openxmlformats.org/drawingml/2006/main">
            <a:r>
              <a:t>https://www.banking.senate.gov/newsroom/minority/new-banking-minority-staff-analysis-identifies-five-major-loopholes-in-digital-asset-market-clarity-act</a:t>
            </a:r>
          </a:p>
          <a:p xmlns:a="http://schemas.openxmlformats.org/drawingml/2006/main">
            <a:r>
              <a:t>https://financialservices.house.gov/news/documentsingle.aspx?DocumentID=410816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https://www.dailypress.senate.gov/</a:t>
            </a:r>
          </a:p>
          <a:p xmlns:a="http://schemas.openxmlformats.org/drawingml/2006/main">
            <a:r>
              <a:t>https://www.congress.gov/bill/119th-congress/house-bill/3633</a:t>
            </a:r>
          </a:p>
          <a:p xmlns:a="http://schemas.openxmlformats.org/drawingml/2006/main">
            <a:r>
              <a:t>https://www.banking.senate.gov/newsroom/majority/icymi-chairman-scott-calls-for-senate-action-on-clarity-act-highlights-momentum-for-digital-asset-market-structure-on-fox-business-mornings-with-maria</a:t>
            </a:r>
          </a:p>
          <a:p xmlns:a="http://schemas.openxmlformats.org/drawingml/2006/main">
            <a:r>
              <a:t>https://www.banking.senate.gov/newsroom/minority/new-banking-minority-staff-analysis-identifies-five-major-loopholes-in-digital-asset-market-clarity-act</a:t>
            </a:r>
          </a:p>
          <a:p xmlns:a="http://schemas.openxmlformats.org/drawingml/2006/main">
            <a:r>
              <a:t>https://financialservices.house.gov/news/documentsingle.aspx?DocumentID=410816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https://www.dailypress.senate.gov/</a:t>
            </a:r>
          </a:p>
          <a:p xmlns:a="http://schemas.openxmlformats.org/drawingml/2006/main">
            <a:r>
              <a:t>https://www.congress.gov/bill/119th-congress/house-bill/3633</a:t>
            </a:r>
          </a:p>
          <a:p xmlns:a="http://schemas.openxmlformats.org/drawingml/2006/main">
            <a:r>
              <a:t>https://www.banking.senate.gov/newsroom/majority/icymi-chairman-scott-calls-for-senate-action-on-clarity-act-highlights-momentum-for-digital-asset-market-structure-on-fox-business-mornings-with-maria</a:t>
            </a:r>
          </a:p>
          <a:p xmlns:a="http://schemas.openxmlformats.org/drawingml/2006/main">
            <a:r>
              <a:t>https://www.banking.senate.gov/newsroom/minority/new-banking-minority-staff-analysis-identifies-five-major-loopholes-in-digital-asset-market-clarity-act</a:t>
            </a:r>
          </a:p>
          <a:p xmlns:a="http://schemas.openxmlformats.org/drawingml/2006/main">
            <a:r>
              <a:t>https://financialservices.house.gov/news/documentsingle.aspx?DocumentID=410816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960843cbdb44bd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7c8ebf1a48b4c4b" /><Relationship Type="http://schemas.openxmlformats.org/officeDocument/2006/relationships/slideLayout" Target="/ppt/slideLayouts/slideLayout1.xml" Id="R032075be249942b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32075be249942b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c896928bf544365" /><Relationship Type="http://schemas.openxmlformats.org/officeDocument/2006/relationships/hyperlink" Target="https://brief.bridgexcapital.ai/editions/005-clarity-reaches-the-senate-floor/" TargetMode="External" Id="Rb5f8bdf0836047d2" /><Relationship Type="http://schemas.openxmlformats.org/officeDocument/2006/relationships/notesSlide" Target="/ppt/notesSlides/notesSlide1.xml" Id="R8ffbfffe384440c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3e509c1b1e44b0c" /><Relationship Type="http://schemas.openxmlformats.org/officeDocument/2006/relationships/notesSlide" Target="/ppt/notesSlides/notesSlide2.xml" Id="R020db4e47147498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75c5a17dce6499d" /><Relationship Type="http://schemas.openxmlformats.org/officeDocument/2006/relationships/notesSlide" Target="/ppt/notesSlides/notesSlide3.xml" Id="R585965579a1a442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724ca34a6d54993" /><Relationship Type="http://schemas.openxmlformats.org/officeDocument/2006/relationships/notesSlide" Target="/ppt/notesSlides/notesSlide4.xml" Id="Rd14afa02e7e34be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4ccd330908649f3" /><Relationship Type="http://schemas.openxmlformats.org/officeDocument/2006/relationships/notesSlide" Target="/ppt/notesSlides/notesSlide5.xml" Id="R35ef99ab13b7487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c7de1854b3f4e4b" /><Relationship Type="http://schemas.openxmlformats.org/officeDocument/2006/relationships/notesSlide" Target="/ppt/notesSlides/notesSlide6.xml" Id="R5922c3f149d54b3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8f9a89c3f32483f" /><Relationship Type="http://schemas.openxmlformats.org/officeDocument/2006/relationships/hyperlink" Target="https://brief.bridgexcapital.ai/editions/005-clarity-reaches-the-senate-floor/" TargetMode="External" Id="R28a7e15345ee44a7" /><Relationship Type="http://schemas.openxmlformats.org/officeDocument/2006/relationships/notesSlide" Target="/ppt/notesSlides/notesSlide7.xml" Id="Rb1b3021942554d97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6182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B2148216-DEDD-4D35-A477-FA1BB301F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0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FE734FE-AE93-44E1-8ADE-F8FAB31B0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0"/>
            <a:ext cx="0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CC903E8-B6A2-4F96-8CEC-AE0C99BBA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0"/>
            <a:ext cx="0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0C33E18-4C40-429F-B59E-F1F3F4E3B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0"/>
            <a:ext cx="0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678D0A2-9D98-4CA7-90EF-6FAB492B8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0"/>
            <a:ext cx="0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E411938-77C9-423C-85C8-A5D5AE01F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0"/>
            <a:ext cx="0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A61BD67-914A-4133-9D99-E3B0586C7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0"/>
            <a:ext cx="0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FBA3575-4D22-4015-B982-96B32B0B4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0"/>
            <a:ext cx="0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9861CA7-FC0A-4E77-B5C2-9ABA15DFD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0"/>
            <a:ext cx="0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ACD88FD-5AD9-4752-BDAB-05DC69844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0"/>
            <a:ext cx="0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0EB4573-7C39-4222-A3E6-5AD31B481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0"/>
            <a:ext cx="0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8D695F3-572E-407A-833A-CCCA22EFF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0"/>
            <a:ext cx="0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5C7C09C-6D01-441E-894D-CADC89CFD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0"/>
            <a:ext cx="0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9876B8B-1916-46D8-A7E3-EC9C59ED9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0"/>
            <a:ext cx="0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664D74E-6AC2-4F3D-BC30-CA03C19B6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0"/>
            <a:ext cx="0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53D4BA5-E43F-4F63-BC54-96E610C32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0"/>
            <a:ext cx="0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A1B3286-8967-4BD5-A167-6AB4DA41C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0"/>
            <a:ext cx="0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870ECFA-BE32-41B0-865F-467038954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0" y="0"/>
            <a:ext cx="0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6C70610-F475-4C5C-9EAB-79A2EBFD3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0" y="0"/>
            <a:ext cx="0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6F3D482-6E79-49A0-817A-B99BF1E59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0" y="0"/>
            <a:ext cx="0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8CDAF96-55DE-4970-A672-6FC956BA2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0" y="0"/>
            <a:ext cx="0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384E6BF-D2C5-46F6-928A-1ABA83826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75A56F6-E840-4629-9747-64E761BC5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62000"/>
            <a:ext cx="15240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ECFDD41-6431-4581-B3F2-87962B1D7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524000"/>
            <a:ext cx="15240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5461428-015F-4775-8531-DE0BA3807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286000"/>
            <a:ext cx="15240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71C0B11-EA37-4382-A4EC-383AEB09A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048000"/>
            <a:ext cx="15240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9DB2D5D-4713-4990-8ABD-9CBFA8F56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810000"/>
            <a:ext cx="15240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B865D89-5B00-4551-AF22-13A561541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572000"/>
            <a:ext cx="15240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8A0A30B-5CF9-4E35-A851-93BEADE00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334000"/>
            <a:ext cx="15240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F5F9E07-CC60-495A-97C6-5302D2965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96000"/>
            <a:ext cx="15240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2BA724E-E028-44E0-8939-4CB3ED180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58000"/>
            <a:ext cx="15240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C8C6113-2512-418C-9CB3-F784906B5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620000"/>
            <a:ext cx="15240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417EE97-48E2-46B2-9C49-3982FB390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8382000"/>
            <a:ext cx="15240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0382757-4977-464C-B8F0-9DAF3E783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824">
              <a:alpha val="80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DBCAD7D-C52E-4CFC-9930-12213972B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28625"/>
            <a:ext cx="666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35D37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5D37D"/>
                </a:solidFill>
                <a:latin typeface="Arial"/>
                <a:ea typeface="Arial"/>
                <a:cs typeface="Arial"/>
              </a:rPr>
              <a:t>THE BRIDGE X BRIEF · EDITION 005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1F5610D-7DAA-4909-8EFC-EAF0BD020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790575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>
                <a:solidFill>
                  <a:srgbClr val="9DB7B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DB7B5"/>
                </a:solidFill>
                <a:latin typeface="Arial"/>
                <a:ea typeface="Arial"/>
                <a:cs typeface="Arial"/>
              </a:rPr>
              <a:t>AUGUST 2026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2D0F5CD-0E3D-47C9-BF1D-4B1E9AC57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0" y="361950"/>
            <a:ext cx="15811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2400" b="1">
                <a:solidFill>
                  <a:srgbClr val="D7B35C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D7B35C"/>
                </a:solidFill>
                <a:latin typeface="Arial"/>
                <a:ea typeface="Arial"/>
                <a:cs typeface="Arial"/>
              </a:rPr>
              <a:t>BXB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3B06D21-D3B6-4C7F-B721-77E31DF9A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0" y="885825"/>
            <a:ext cx="1390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9DB7B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DB7B5"/>
                </a:solidFill>
                <a:latin typeface="Arial"/>
                <a:ea typeface="Arial"/>
                <a:cs typeface="Arial"/>
              </a:rPr>
              <a:t>01 / 07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6B949BB-953E-46C1-9E15-C758D399E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8439150"/>
            <a:ext cx="11239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B3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5906D84-DE36-45EE-97D1-9E12D7F85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8439150"/>
            <a:ext cx="4000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D3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1E4699B-00BA-4D0C-B822-15A63FD52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3028950"/>
            <a:ext cx="2381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6414B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36675FE2-F1DB-4180-A4DF-447BF57DF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3625" y="3028950"/>
            <a:ext cx="2381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6414B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F29EA665-C729-43E5-986D-FC0B54D67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333875"/>
            <a:ext cx="0" cy="6191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6414B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2896908B-AF0D-4FAA-8303-6AB6452D8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953000"/>
            <a:ext cx="247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6414B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C8F1A49B-6F14-4BF1-B44D-15DB677C5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4953000"/>
            <a:ext cx="0" cy="5048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6414B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17E4CC61-9585-42BA-BEE9-77ABF7F14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1695450"/>
            <a:ext cx="2667000" cy="2667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A2230"/>
          </a:solidFill>
          <a:ln xmlns:a="http://schemas.openxmlformats.org/drawingml/2006/main" w="28575">
            <a:solidFill>
              <a:srgbClr val="58B8DF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7C1EB4C1-0EFE-4419-81D2-7B12C538B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2209800"/>
            <a:ext cx="2209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58B8D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58B8DF"/>
                </a:solidFill>
                <a:latin typeface="Arial"/>
                <a:ea typeface="Arial"/>
                <a:cs typeface="Arial"/>
              </a:rPr>
              <a:t>CLOTURE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D35609BD-4C7D-44EB-A854-55FF6F454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2647950"/>
            <a:ext cx="2209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850" b="1">
                <a:solidFill>
                  <a:srgbClr val="EDF5F1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EDF5F1"/>
                </a:solidFill>
                <a:latin typeface="Arial"/>
                <a:ea typeface="Arial"/>
                <a:cs typeface="Arial"/>
              </a:rPr>
              <a:t>FILED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5BD93D1E-CE05-4ED5-A858-F2A7C33B7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3352800"/>
            <a:ext cx="2209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75" b="1">
                <a:solidFill>
                  <a:srgbClr val="9DB7B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DB7B5"/>
                </a:solidFill>
                <a:latin typeface="Arial"/>
                <a:ea typeface="Arial"/>
                <a:cs typeface="Arial"/>
              </a:rPr>
              <a:t>MOTION TO PROCEED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06BC159F-6B44-4A10-AB3C-3E0791D65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1028700"/>
            <a:ext cx="4667250" cy="3333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2A39"/>
          </a:solidFill>
          <a:ln xmlns:a="http://schemas.openxmlformats.org/drawingml/2006/main" w="38100">
            <a:solidFill>
              <a:srgbClr val="D7B35C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76BDFF61-C56A-436B-8C06-F032E3F66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638300"/>
            <a:ext cx="304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D7B35C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D7B35C"/>
                </a:solidFill>
                <a:latin typeface="Arial"/>
                <a:ea typeface="Arial"/>
                <a:cs typeface="Arial"/>
              </a:rPr>
              <a:t>SENATE FLOOR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A9E28000-D55B-4B37-A34B-2B38E706A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57400"/>
            <a:ext cx="276225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450" b="1">
                <a:solidFill>
                  <a:srgbClr val="EDF5F1"/>
                </a:solidFill>
                <a:latin typeface="Arial"/>
                <a:ea typeface="Arial"/>
                <a:cs typeface="Arial"/>
              </a:defRPr>
            </a:pPr>
            <a:r>
              <a:rPr sz="6450" b="1">
                <a:solidFill>
                  <a:srgbClr val="EDF5F1"/>
                </a:solidFill>
                <a:latin typeface="Arial"/>
                <a:ea typeface="Arial"/>
                <a:cs typeface="Arial"/>
              </a:rPr>
              <a:t>60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6DCBC009-BE72-4047-8DD6-E3F301131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152775"/>
            <a:ext cx="285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950" b="1">
                <a:solidFill>
                  <a:srgbClr val="35D37D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35D37D"/>
                </a:solidFill>
                <a:latin typeface="Arial"/>
                <a:ea typeface="Arial"/>
                <a:cs typeface="Arial"/>
              </a:rPr>
              <a:t>VOTE GATE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322CE3AE-C8B1-4DB3-8584-11583279D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6957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75" b="1">
                <a:solidFill>
                  <a:srgbClr val="9DB7B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DB7B5"/>
                </a:solidFill>
                <a:latin typeface="Arial"/>
                <a:ea typeface="Arial"/>
                <a:cs typeface="Arial"/>
              </a:rPr>
              <a:t>PROCEDURAL MOVEMENT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FF36CBD0-4BC5-4DC6-9BD5-FC496A5D8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1695450"/>
            <a:ext cx="2667000" cy="2667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A2230"/>
          </a:solidFill>
          <a:ln xmlns:a="http://schemas.openxmlformats.org/drawingml/2006/main" w="28575">
            <a:solidFill>
              <a:srgbClr val="35D37D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AECA88DF-5985-4210-91CF-B967764AE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9975" y="2209800"/>
            <a:ext cx="2209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35D37D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35D37D"/>
                </a:solidFill>
                <a:latin typeface="Arial"/>
                <a:ea typeface="Arial"/>
                <a:cs typeface="Arial"/>
              </a:rPr>
              <a:t>FINAL LAW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C6418B55-9F9C-4817-9C2D-8DF508BF9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9975" y="2647950"/>
            <a:ext cx="2209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850" b="1">
                <a:solidFill>
                  <a:srgbClr val="EDF5F1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EDF5F1"/>
                </a:solidFill>
                <a:latin typeface="Arial"/>
                <a:ea typeface="Arial"/>
                <a:cs typeface="Arial"/>
              </a:rPr>
              <a:t>NOT YET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99FE15E4-343B-4B0E-B271-BDBAF6705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9975" y="3352800"/>
            <a:ext cx="2209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75" b="1">
                <a:solidFill>
                  <a:srgbClr val="9DB7B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DB7B5"/>
                </a:solidFill>
                <a:latin typeface="Arial"/>
                <a:ea typeface="Arial"/>
                <a:cs typeface="Arial"/>
              </a:rPr>
              <a:t>DEBATE · AMENDMENTS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910324D3-978F-4911-B82B-D1656CABB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5457825"/>
            <a:ext cx="342900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0A2230"/>
          </a:solidFill>
          <a:ln xmlns:a="http://schemas.openxmlformats.org/drawingml/2006/main" w="19050">
            <a:solidFill>
              <a:srgbClr val="26414B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E5DFEA05-F184-4957-9804-A5BD43F39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5600700"/>
            <a:ext cx="2971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1">
                <a:solidFill>
                  <a:srgbClr val="D7B35C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D7B35C"/>
                </a:solidFill>
                <a:latin typeface="Arial"/>
                <a:ea typeface="Arial"/>
                <a:cs typeface="Arial"/>
              </a:rPr>
              <a:t>MOTION  ≠  COMPLETION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C5F3FB0C-38BB-41C5-AFD5-686A13522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619750"/>
            <a:ext cx="8572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525" b="1">
                <a:solidFill>
                  <a:srgbClr val="EDF5F1"/>
                </a:solidFill>
                <a:latin typeface="Arial"/>
                <a:ea typeface="Arial"/>
                <a:cs typeface="Arial"/>
              </a:defRPr>
            </a:pPr>
            <a:r>
              <a:rPr sz="3525" b="1">
                <a:solidFill>
                  <a:srgbClr val="EDF5F1"/>
                </a:solidFill>
                <a:latin typeface="Arial"/>
                <a:ea typeface="Arial"/>
                <a:cs typeface="Arial"/>
              </a:rPr>
              <a:t>THE CLARITY ACT REACHES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C3820EFF-4055-4E26-88E6-50F22C22F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238875"/>
            <a:ext cx="9239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5100" b="1">
                <a:solidFill>
                  <a:srgbClr val="D7B35C"/>
                </a:solidFill>
                <a:latin typeface="Arial"/>
                <a:ea typeface="Arial"/>
                <a:cs typeface="Arial"/>
              </a:defRPr>
            </a:pPr>
            <a:r>
              <a:rPr sz="5100" b="1">
                <a:solidFill>
                  <a:srgbClr val="D7B35C"/>
                </a:solidFill>
                <a:latin typeface="Arial"/>
                <a:ea typeface="Arial"/>
                <a:cs typeface="Arial"/>
              </a:rPr>
              <a:t>THE SENATE FLOOR.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F7AA5D1F-06D8-4CE0-AC06-35F811024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7181850"/>
            <a:ext cx="10287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9DB7B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9DB7B5"/>
                </a:solidFill>
                <a:latin typeface="Arial"/>
                <a:ea typeface="Arial"/>
                <a:cs typeface="Arial"/>
              </a:rPr>
              <a:t>AMERICA'S DIGITAL-ASSET RULEBOOK IS CLOSER — BUT NOT COMPLETE.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56A26076-70A4-49BC-9C03-A05624A9E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7124700"/>
            <a:ext cx="5200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75" b="1">
                <a:solidFill>
                  <a:srgbClr val="35D37D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35D37D"/>
                </a:solidFill>
                <a:latin typeface="Arial"/>
                <a:ea typeface="Arial"/>
                <a:cs typeface="Arial"/>
                <a:hlinkClick xmlns:r="http://schemas.openxmlformats.org/officeDocument/2006/relationships" r:id="Rb5f8bdf0836047d2"/>
              </a:rPr>
              <a:t>READ THE FULL BRIEF  →  BRIEF.BRIDGEXCAPITAL.AI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DEDC14F2-7FDD-471B-98EA-D5EC30053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7953375"/>
            <a:ext cx="1066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>
                <a:solidFill>
                  <a:srgbClr val="9DB7B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DB7B5"/>
                </a:solidFill>
                <a:latin typeface="Arial"/>
                <a:ea typeface="Arial"/>
                <a:cs typeface="Arial"/>
              </a:rPr>
              <a:t>PRIMARY-SOURCE RECEIPTS · EDUCATION BY DEFAULT</a:t>
            </a:r>
          </a:p>
        </p:txBody>
      </p:sp>
    </p:spTree>
    <p:extLst>
      <p:ext uri="{BB962C8B-B14F-4D97-AF65-F5344CB8AC3E}">
        <p14:creationId xmlns:p14="http://schemas.microsoft.com/office/powerpoint/2010/main" val="105680811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6182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A4DCE100-1199-4E94-B011-2FBD22321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0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832DD86-EAE8-4B56-8A24-56F77AB21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0"/>
            <a:ext cx="0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2F31B46-252D-49F0-AB29-7C0CEF605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0"/>
            <a:ext cx="0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2C7D2F9-E7F1-4B25-831F-734560820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0"/>
            <a:ext cx="0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478C6AA-8F26-407A-8B3B-F150B76B2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0"/>
            <a:ext cx="0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580348C-C939-433A-B37F-7F5028A0E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0"/>
            <a:ext cx="0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11CC5AD-4187-446F-9DEF-8D1B86F82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0"/>
            <a:ext cx="0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8EE6B1B-25C5-4AEF-A6AF-9D9CC93C2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0"/>
            <a:ext cx="0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5518AF3-71F3-44E7-9C01-F50F0879A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0"/>
            <a:ext cx="0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E4B5833-0016-45E3-9ECB-414E2E2BD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0"/>
            <a:ext cx="0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B193DB8-2FC1-44A7-8780-1E35B2617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0"/>
            <a:ext cx="0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1B34FA2-29D8-41A9-93EB-8EA27A676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0"/>
            <a:ext cx="0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F55CFF2-2102-4C5B-A85E-BA18B203A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0"/>
            <a:ext cx="0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59A6916-8C64-426D-B8D2-5C042A140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0"/>
            <a:ext cx="0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1481779-1157-4456-BA1A-8632F91B4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0"/>
            <a:ext cx="0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986BE92-96B6-4CA5-823C-6D565E80D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0"/>
            <a:ext cx="0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C52C3C7-33C1-47F8-B269-6F8187890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0"/>
            <a:ext cx="0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FBB999A-2B8B-4EB0-B3A1-72C4C3902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0" y="0"/>
            <a:ext cx="0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DD99C44-35DA-4EFD-BB31-99B4FDD3F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0" y="0"/>
            <a:ext cx="0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8AE004C-43D0-4680-BCEE-FDA1E7D81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0" y="0"/>
            <a:ext cx="0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2BEC071-07F4-4F6C-A080-071D4C8A7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0" y="0"/>
            <a:ext cx="0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DFC9F69-09CD-465E-8870-2338211FC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7AA4CE0-EA28-496E-BD13-A0406DEEF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62000"/>
            <a:ext cx="15240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8DCD7F7-CA85-4DC8-9B81-D0A45F66A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524000"/>
            <a:ext cx="15240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E695C48-B8F5-4B19-BD44-B32E23E25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286000"/>
            <a:ext cx="15240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B58C829-1F38-4A72-BE58-34446B163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048000"/>
            <a:ext cx="15240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A95F41C-C255-4B6A-B47A-FDC336990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810000"/>
            <a:ext cx="15240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BFFCFD0-9B99-41A6-986A-0AABE7004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572000"/>
            <a:ext cx="15240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E7AC8DC-8EFE-4B8B-AC9A-2CE2CE12C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334000"/>
            <a:ext cx="15240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E17987C-C1D3-4699-B261-353669E1D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96000"/>
            <a:ext cx="15240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8C2BC0E-561C-4D12-958C-6F4F88217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58000"/>
            <a:ext cx="15240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CBD5DEA-A3F6-4302-A6DD-81C4D98E4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620000"/>
            <a:ext cx="15240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70CF6E4-C8AF-4182-BCFB-42A37E6CD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8382000"/>
            <a:ext cx="15240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E76ED7A-C8EF-419F-BC7C-65793A2FF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824">
              <a:alpha val="80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64183FC-33E6-484F-8B43-C177D7522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28625"/>
            <a:ext cx="666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35D37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5D37D"/>
                </a:solidFill>
                <a:latin typeface="Arial"/>
                <a:ea typeface="Arial"/>
                <a:cs typeface="Arial"/>
              </a:rPr>
              <a:t>THE BRIDGE X BRIEF · EDITION 005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EE3B5E7-FBA2-4ED8-8E42-A332AA95A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790575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>
                <a:solidFill>
                  <a:srgbClr val="9DB7B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DB7B5"/>
                </a:solidFill>
                <a:latin typeface="Arial"/>
                <a:ea typeface="Arial"/>
                <a:cs typeface="Arial"/>
              </a:rPr>
              <a:t>THE PROCEDURAL SIGNAL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4EE4FFE-3063-4133-8A65-FDB9DC80E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0" y="361950"/>
            <a:ext cx="15811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2400" b="1">
                <a:solidFill>
                  <a:srgbClr val="D7B35C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D7B35C"/>
                </a:solidFill>
                <a:latin typeface="Arial"/>
                <a:ea typeface="Arial"/>
                <a:cs typeface="Arial"/>
              </a:rPr>
              <a:t>BXB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62DCAA0-A59C-438D-B9B0-F509C3481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0" y="885825"/>
            <a:ext cx="1390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9DB7B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DB7B5"/>
                </a:solidFill>
                <a:latin typeface="Arial"/>
                <a:ea typeface="Arial"/>
                <a:cs typeface="Arial"/>
              </a:rPr>
              <a:t>02 / 07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2E7D869-0044-4FBB-B91D-8E3125817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8439150"/>
            <a:ext cx="11239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B3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62C1AFE-64D9-4BC9-84A2-BC8ECA098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8439150"/>
            <a:ext cx="4000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D3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9D9ABDDC-B7B9-4A99-9997-79D43602B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352550"/>
            <a:ext cx="11049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9615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900" b="1">
                <a:solidFill>
                  <a:srgbClr val="EDF5F1"/>
                </a:solidFill>
                <a:latin typeface="Arial"/>
                <a:ea typeface="Arial"/>
                <a:cs typeface="Arial"/>
              </a:defRPr>
            </a:pPr>
            <a:r>
              <a:rPr sz="3900" b="1">
                <a:solidFill>
                  <a:srgbClr val="EDF5F1"/>
                </a:solidFill>
                <a:latin typeface="Arial"/>
                <a:ea typeface="Arial"/>
                <a:cs typeface="Arial"/>
              </a:rPr>
              <a:t>THE SENATE MOVED THE PROCESS FORWARD.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C99BF12C-3624-45A0-9B95-92D2C6F5A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381250"/>
            <a:ext cx="7905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D7B35C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D7B35C"/>
                </a:solidFill>
                <a:latin typeface="Arial"/>
                <a:ea typeface="Arial"/>
                <a:cs typeface="Arial"/>
              </a:rPr>
              <a:t>That matters. It is not final passage.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D715BE6D-C128-461F-AD53-DA12BB12C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4857750"/>
            <a:ext cx="53816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6414B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46861280-E25A-4C71-9E69-B54193F4F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857750"/>
            <a:ext cx="53816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6414B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92E7B1E5-16DC-465A-BFF6-C4C88B682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524250"/>
            <a:ext cx="2571750" cy="2571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A2230"/>
          </a:solidFill>
          <a:ln xmlns:a="http://schemas.openxmlformats.org/drawingml/2006/main" w="28575">
            <a:solidFill>
              <a:srgbClr val="58B8DF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30D4CAE8-950F-4906-BABD-79D95DE44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038600"/>
            <a:ext cx="2114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58B8D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58B8DF"/>
                </a:solidFill>
                <a:latin typeface="Arial"/>
                <a:ea typeface="Arial"/>
                <a:cs typeface="Arial"/>
              </a:rPr>
              <a:t>HOUSE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8DBB8623-5350-4BEF-B475-F6C460A7C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476750"/>
            <a:ext cx="21145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850" b="1">
                <a:solidFill>
                  <a:srgbClr val="EDF5F1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EDF5F1"/>
                </a:solidFill>
                <a:latin typeface="Arial"/>
                <a:ea typeface="Arial"/>
                <a:cs typeface="Arial"/>
              </a:rPr>
              <a:t>294–134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9E7EF8F4-AEFC-4891-A7FE-5577A5207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181600"/>
            <a:ext cx="21145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75" b="1">
                <a:solidFill>
                  <a:srgbClr val="9DB7B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DB7B5"/>
                </a:solidFill>
                <a:latin typeface="Arial"/>
                <a:ea typeface="Arial"/>
                <a:cs typeface="Arial"/>
              </a:rPr>
              <a:t>PASSED · JULY 2025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49C5502D-23EA-47D7-9C23-4F70CFA6B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524250"/>
            <a:ext cx="2571750" cy="2571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A2230"/>
          </a:solidFill>
          <a:ln xmlns:a="http://schemas.openxmlformats.org/drawingml/2006/main" w="28575">
            <a:solidFill>
              <a:srgbClr val="D7B35C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693C8925-FEBC-4DB2-B853-C4A570976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2725" y="4038600"/>
            <a:ext cx="2114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D7B35C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D7B35C"/>
                </a:solidFill>
                <a:latin typeface="Arial"/>
                <a:ea typeface="Arial"/>
                <a:cs typeface="Arial"/>
              </a:rPr>
              <a:t>SENATE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68B2E37B-90C7-4EC1-B410-214286F75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2725" y="4476750"/>
            <a:ext cx="21145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850" b="1">
                <a:solidFill>
                  <a:srgbClr val="EDF5F1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EDF5F1"/>
                </a:solidFill>
                <a:latin typeface="Arial"/>
                <a:ea typeface="Arial"/>
                <a:cs typeface="Arial"/>
              </a:rPr>
              <a:t>CLOTURE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A8288284-4695-4F79-81A1-0928557CC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2725" y="5181600"/>
            <a:ext cx="21145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75" b="1">
                <a:solidFill>
                  <a:srgbClr val="9DB7B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DB7B5"/>
                </a:solidFill>
                <a:latin typeface="Arial"/>
                <a:ea typeface="Arial"/>
                <a:cs typeface="Arial"/>
              </a:rPr>
              <a:t>FILED · AUG. 7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D45931A9-648D-419A-AA8D-C6BDC717D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0" y="3524250"/>
            <a:ext cx="2571750" cy="2571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A2230"/>
          </a:solidFill>
          <a:ln xmlns:a="http://schemas.openxmlformats.org/drawingml/2006/main" w="28575">
            <a:solidFill>
              <a:srgbClr val="35D37D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4F067422-9569-4DEA-9E66-0F6B91CA8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44350" y="4038600"/>
            <a:ext cx="2114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35D37D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35D37D"/>
                </a:solidFill>
                <a:latin typeface="Arial"/>
                <a:ea typeface="Arial"/>
                <a:cs typeface="Arial"/>
              </a:rPr>
              <a:t>NEXT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AAA91EC5-4ED4-48A0-8CF9-0919F0383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44350" y="4476750"/>
            <a:ext cx="21145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850" b="1">
                <a:solidFill>
                  <a:srgbClr val="EDF5F1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EDF5F1"/>
                </a:solidFill>
                <a:latin typeface="Arial"/>
                <a:ea typeface="Arial"/>
                <a:cs typeface="Arial"/>
              </a:rPr>
              <a:t>60 VOTES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509904C0-E433-47F9-9C2E-39FD01791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44350" y="5181600"/>
            <a:ext cx="21145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75" b="1">
                <a:solidFill>
                  <a:srgbClr val="9DB7B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DB7B5"/>
                </a:solidFill>
                <a:latin typeface="Arial"/>
                <a:ea typeface="Arial"/>
                <a:cs typeface="Arial"/>
              </a:rPr>
              <a:t>MOTION TO PROCEED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B669E100-A98F-4313-9929-AA415E7BF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685800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00" b="1">
                <a:solidFill>
                  <a:srgbClr val="EDF5F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EDF5F1"/>
                </a:solidFill>
                <a:latin typeface="Arial"/>
                <a:ea typeface="Arial"/>
                <a:cs typeface="Arial"/>
              </a:rPr>
              <a:t>The Senate returns September 14. Debate, amendments and final votes still remain.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87DEE158-9C7B-40DD-A2AD-FAB0408A0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7953375"/>
            <a:ext cx="1066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>
                <a:solidFill>
                  <a:srgbClr val="9DB7B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DB7B5"/>
                </a:solidFill>
                <a:latin typeface="Arial"/>
                <a:ea typeface="Arial"/>
                <a:cs typeface="Arial"/>
              </a:rPr>
              <a:t>PRIMARY-SOURCE RECEIPTS · EDUCATION BY DEFAULT</a:t>
            </a:r>
          </a:p>
        </p:txBody>
      </p:sp>
    </p:spTree>
    <p:extLst>
      <p:ext uri="{BB962C8B-B14F-4D97-AF65-F5344CB8AC3E}">
        <p14:creationId xmlns:p14="http://schemas.microsoft.com/office/powerpoint/2010/main" val="75017719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6182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8BB3B3C5-51DB-493B-837B-FAE4B6E07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0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6691726-AC62-4567-BEB1-8E3CAB273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0"/>
            <a:ext cx="0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A25052A-2836-461D-A8D3-275E5192A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0"/>
            <a:ext cx="0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D9F795B-20B1-498A-AF73-217456051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0"/>
            <a:ext cx="0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2302502-42E0-4233-B353-31EDC0E75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0"/>
            <a:ext cx="0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531A501-D51D-4F7B-BFD1-68236C6BD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0"/>
            <a:ext cx="0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145AA18-5AC6-4D94-A056-DA2CDFAC5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0"/>
            <a:ext cx="0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43CEE51-43CD-4C83-92F6-A0B3A9DF6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0"/>
            <a:ext cx="0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5E1818B-2CD1-4316-809B-3C39B06CF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0"/>
            <a:ext cx="0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70820CF-3D24-4A37-9576-7DDAAF9FC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0"/>
            <a:ext cx="0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3D04373-3FD3-4DE9-AF90-877E61131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0"/>
            <a:ext cx="0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D98E709-B888-41A2-9751-D83CF9CD6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0"/>
            <a:ext cx="0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51EC043-414A-4209-B93C-37385378E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0"/>
            <a:ext cx="0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2D2D6BB-9FFB-41B0-A181-04D3342BD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0"/>
            <a:ext cx="0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C8237A6-2797-48EF-A0D9-3770AF668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0"/>
            <a:ext cx="0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107EC7C-BD36-4D39-A2F7-85FEE4D8A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0"/>
            <a:ext cx="0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CB6B8F8-C1E4-49F9-AFCD-F086FAC33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0"/>
            <a:ext cx="0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2E24A9B-3CBF-4694-8CDA-4812AC03B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0" y="0"/>
            <a:ext cx="0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2640A6C-21CF-4849-BE92-1B212FA20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0" y="0"/>
            <a:ext cx="0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302F808-5653-4712-962C-499D225E4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0" y="0"/>
            <a:ext cx="0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AB4A6FA-4330-4B60-9B09-4C2DAE279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0" y="0"/>
            <a:ext cx="0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D332AAB-73E1-4009-88AD-B5AA644D9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46C4385-5666-4DF4-9F40-A82485630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62000"/>
            <a:ext cx="15240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E3CAF85-6C3B-47A3-B005-9C4C7E000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524000"/>
            <a:ext cx="15240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34366F6-C019-41A2-BE4D-55D6BDF25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286000"/>
            <a:ext cx="15240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AED95AC-7CE0-4882-9BF4-EBC1E6CC8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048000"/>
            <a:ext cx="15240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1596E03-1AAB-4B22-9AB2-3A17C66E3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810000"/>
            <a:ext cx="15240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1A5B507-E8F5-47C0-98EE-1215FDDF3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572000"/>
            <a:ext cx="15240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3C464DB-C618-4DC8-B117-EABC1B30C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334000"/>
            <a:ext cx="15240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F5CB7BF-61A8-436E-8D31-59E85A926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96000"/>
            <a:ext cx="15240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AF2DF9D-AB48-4CE6-A586-8BDB24221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58000"/>
            <a:ext cx="15240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3D123A7-3279-4145-86AD-C1DD84531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620000"/>
            <a:ext cx="15240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2C333E9-D147-4457-8C74-30BAAAC02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8382000"/>
            <a:ext cx="15240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CE0FDA9-796E-4B39-BACD-A20223E9C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824">
              <a:alpha val="80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26FFD74-34C3-4A40-B94A-ED45EDA10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28625"/>
            <a:ext cx="666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35D37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5D37D"/>
                </a:solidFill>
                <a:latin typeface="Arial"/>
                <a:ea typeface="Arial"/>
                <a:cs typeface="Arial"/>
              </a:rPr>
              <a:t>THE BRIDGE X BRIEF · EDITION 005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4903003-EA9A-4252-A790-E12DDDCF6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790575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>
                <a:solidFill>
                  <a:srgbClr val="9DB7B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DB7B5"/>
                </a:solidFill>
                <a:latin typeface="Arial"/>
                <a:ea typeface="Arial"/>
                <a:cs typeface="Arial"/>
              </a:rPr>
              <a:t>WHAT CHANGED — AND WHAT DID NOT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00EACB2-5B20-4FA1-B240-2BF5E55CD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0" y="361950"/>
            <a:ext cx="15811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2400" b="1">
                <a:solidFill>
                  <a:srgbClr val="D7B35C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D7B35C"/>
                </a:solidFill>
                <a:latin typeface="Arial"/>
                <a:ea typeface="Arial"/>
                <a:cs typeface="Arial"/>
              </a:rPr>
              <a:t>BXB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FEADC24-DCF0-4101-ADA9-A1ED9F3EF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0" y="885825"/>
            <a:ext cx="1390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9DB7B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DB7B5"/>
                </a:solidFill>
                <a:latin typeface="Arial"/>
                <a:ea typeface="Arial"/>
                <a:cs typeface="Arial"/>
              </a:rPr>
              <a:t>03 / 07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5604D28-C28A-49CB-846C-D558F2C8E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8439150"/>
            <a:ext cx="11239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B3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D9CA9F4-7910-4630-8269-07435C3C3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8439150"/>
            <a:ext cx="4000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D3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5FD7E04-C9A2-42D1-B0CF-ED0E2EF00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352550"/>
            <a:ext cx="11049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900" b="1">
                <a:solidFill>
                  <a:srgbClr val="EDF5F1"/>
                </a:solidFill>
                <a:latin typeface="Arial"/>
                <a:ea typeface="Arial"/>
                <a:cs typeface="Arial"/>
              </a:defRPr>
            </a:pPr>
            <a:r>
              <a:rPr sz="3900" b="1">
                <a:solidFill>
                  <a:srgbClr val="EDF5F1"/>
                </a:solidFill>
                <a:latin typeface="Arial"/>
                <a:ea typeface="Arial"/>
                <a:cs typeface="Arial"/>
              </a:rPr>
              <a:t>MOTION IS NOT COMPLETION.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246530C-70AF-4152-A70E-659534C90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952750"/>
            <a:ext cx="0" cy="41148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6414B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A6CA257-9BC3-46A3-9833-C1D1B5B8C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04800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35D37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35D37D"/>
                </a:solidFill>
                <a:latin typeface="Arial"/>
                <a:ea typeface="Arial"/>
                <a:cs typeface="Arial"/>
              </a:rPr>
              <a:t>WHAT MOVED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07A6AEA7-8D95-4937-8617-DE97A5326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714750"/>
            <a:ext cx="57150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2025" b="0">
                <a:solidFill>
                  <a:srgbClr val="EDF5F1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DF5F1"/>
                </a:solidFill>
                <a:latin typeface="Arial"/>
                <a:ea typeface="Arial"/>
                <a:cs typeface="Arial"/>
              </a:rPr>
              <a:t>• Senate leadership filed cloture.</a:t>
            </a:r>
          </a:p>
          <a:p xmlns:a="http://schemas.openxmlformats.org/drawingml/2006/main">
            <a:pPr algn="l">
              <a:lnSpc>
                <a:spcPct val="125000"/>
              </a:lnSpc>
              <a:buNone/>
              <a:defRPr sz="2025" b="0">
                <a:solidFill>
                  <a:srgbClr val="EDF5F1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DF5F1"/>
                </a:solidFill>
                <a:latin typeface="Arial"/>
                <a:ea typeface="Arial"/>
                <a:cs typeface="Arial"/>
              </a:rPr>
              <a:t>• The bill entered a live floor process.</a:t>
            </a:r>
          </a:p>
          <a:p xmlns:a="http://schemas.openxmlformats.org/drawingml/2006/main">
            <a:pPr algn="l">
              <a:lnSpc>
                <a:spcPct val="125000"/>
              </a:lnSpc>
              <a:buNone/>
              <a:defRPr sz="2025" b="0">
                <a:solidFill>
                  <a:srgbClr val="EDF5F1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DF5F1"/>
                </a:solidFill>
                <a:latin typeface="Arial"/>
                <a:ea typeface="Arial"/>
                <a:cs typeface="Arial"/>
              </a:rPr>
              <a:t>• A national rulebook moved closer.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C88209B9-7BD8-4256-BFB3-DC53155F2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4800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FF7878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F7878"/>
                </a:solidFill>
                <a:latin typeface="Arial"/>
                <a:ea typeface="Arial"/>
                <a:cs typeface="Arial"/>
              </a:rPr>
              <a:t>WHAT DID NOT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8428599A-7750-4B54-A7A0-FA7B60779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714750"/>
            <a:ext cx="57150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2025" b="0">
                <a:solidFill>
                  <a:srgbClr val="EDF5F1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DF5F1"/>
                </a:solidFill>
                <a:latin typeface="Arial"/>
                <a:ea typeface="Arial"/>
                <a:cs typeface="Arial"/>
              </a:rPr>
              <a:t>• The Senate did not pass the bill.</a:t>
            </a:r>
          </a:p>
          <a:p xmlns:a="http://schemas.openxmlformats.org/drawingml/2006/main">
            <a:pPr algn="l">
              <a:lnSpc>
                <a:spcPct val="125000"/>
              </a:lnSpc>
              <a:buNone/>
              <a:defRPr sz="2025" b="0">
                <a:solidFill>
                  <a:srgbClr val="EDF5F1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DF5F1"/>
                </a:solidFill>
                <a:latin typeface="Arial"/>
                <a:ea typeface="Arial"/>
                <a:cs typeface="Arial"/>
              </a:rPr>
              <a:t>• The legislative text is not final.</a:t>
            </a:r>
          </a:p>
          <a:p xmlns:a="http://schemas.openxmlformats.org/drawingml/2006/main">
            <a:pPr algn="l">
              <a:lnSpc>
                <a:spcPct val="125000"/>
              </a:lnSpc>
              <a:buNone/>
              <a:defRPr sz="2025" b="0">
                <a:solidFill>
                  <a:srgbClr val="EDF5F1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EDF5F1"/>
                </a:solidFill>
                <a:latin typeface="Arial"/>
                <a:ea typeface="Arial"/>
                <a:cs typeface="Arial"/>
              </a:rPr>
              <a:t>• Agencies have not implemented rules.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70836A15-BFB9-4DED-ABA5-7A8FA2E21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6953250"/>
            <a:ext cx="11239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D7B35C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D7B35C"/>
                </a:solidFill>
                <a:latin typeface="Arial"/>
                <a:ea typeface="Arial"/>
                <a:cs typeface="Arial"/>
              </a:rPr>
              <a:t>THE SIGNAL: MOMENTUM IS REAL. CERTAINTY IS NOT.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F91140EB-B2B5-40DA-AAA1-EBE4C2ACF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7953375"/>
            <a:ext cx="1066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>
                <a:solidFill>
                  <a:srgbClr val="9DB7B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DB7B5"/>
                </a:solidFill>
                <a:latin typeface="Arial"/>
                <a:ea typeface="Arial"/>
                <a:cs typeface="Arial"/>
              </a:rPr>
              <a:t>PRIMARY-SOURCE RECEIPTS · EDUCATION BY DEFAULT</a:t>
            </a:r>
          </a:p>
        </p:txBody>
      </p:sp>
    </p:spTree>
    <p:extLst>
      <p:ext uri="{BB962C8B-B14F-4D97-AF65-F5344CB8AC3E}">
        <p14:creationId xmlns:p14="http://schemas.microsoft.com/office/powerpoint/2010/main" val="151277787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6182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BDA0088D-73E4-464F-902C-78FED1C96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0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7ACD018-A6D3-44F7-BE08-BC16B8671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0"/>
            <a:ext cx="0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745A686-5391-4BB1-970A-232861DB0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0"/>
            <a:ext cx="0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570EF01-A475-412D-95D6-DCEB4F208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0"/>
            <a:ext cx="0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E183EC7-5237-411A-ADD8-8BC822879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0"/>
            <a:ext cx="0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BFECD6C-9F62-4E4A-ADB3-9C6C3B59D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0"/>
            <a:ext cx="0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E83A4CE-1BBC-43ED-9EE9-2BAB75281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0"/>
            <a:ext cx="0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96D639E-521A-4AFB-A1C2-6C3315939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0"/>
            <a:ext cx="0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9B6FBD9-F615-4E87-8FDC-34AB067DC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0"/>
            <a:ext cx="0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DDF29AD-1777-4E74-9361-57010B7F3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0"/>
            <a:ext cx="0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96A58D2-6C9F-42BC-9AE8-DED7B29B2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0"/>
            <a:ext cx="0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0D264A6-6700-4575-9543-F466C3726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0"/>
            <a:ext cx="0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25F6162-72B0-4EB6-ABC2-3C343BB23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0"/>
            <a:ext cx="0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7E93BC2-88D7-403C-9E32-AEEA145BF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0"/>
            <a:ext cx="0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73EB51E-FAD3-4D15-8F37-C15121BF8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0"/>
            <a:ext cx="0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FC6AD37-8D67-434E-91CF-03865449C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0"/>
            <a:ext cx="0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5A3A7B9-BF44-4488-8A9A-9361C6B47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0"/>
            <a:ext cx="0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C78B427-B28B-4C4B-A54A-65D6950E2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0" y="0"/>
            <a:ext cx="0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BD6B046-49B5-43D9-A626-ACFCD13FC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0" y="0"/>
            <a:ext cx="0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4144A09-F9C1-471F-86D7-91248FF81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0" y="0"/>
            <a:ext cx="0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C0AF70D-88F7-4F9A-910C-DF2779D6D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0" y="0"/>
            <a:ext cx="0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68DE255-3C2D-4622-983A-E62425F59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C2FD3BA-801A-43D1-A466-CE173DD31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62000"/>
            <a:ext cx="15240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978748C-0326-45D2-B3C0-3F18B8E06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524000"/>
            <a:ext cx="15240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B7197E2-060E-494F-B34B-8F720C775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286000"/>
            <a:ext cx="15240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A62BE74-B2CF-4CDE-B2F9-7EE9A537B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048000"/>
            <a:ext cx="15240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E76AA60-EE50-42D9-9380-51F5A403F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810000"/>
            <a:ext cx="15240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F535AF5-D003-40E9-83CC-2684FB339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572000"/>
            <a:ext cx="15240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2CF45C2-829B-486E-B295-6BCAFCA5A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334000"/>
            <a:ext cx="15240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EEB7011-BF8F-4A36-B279-DC1F74248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96000"/>
            <a:ext cx="15240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8665483-D34D-4F51-8BCB-174C82D3E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58000"/>
            <a:ext cx="15240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82B6996-CA72-429A-8121-4E84FC3AA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620000"/>
            <a:ext cx="15240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70785A1-A775-4079-B14D-9AACB7E51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8382000"/>
            <a:ext cx="15240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411B0AA-7FA1-4E10-B8AD-0C1CDE5B6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824">
              <a:alpha val="80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F76D3AE-1546-4B01-837C-3BA70C142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28625"/>
            <a:ext cx="666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35D37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5D37D"/>
                </a:solidFill>
                <a:latin typeface="Arial"/>
                <a:ea typeface="Arial"/>
                <a:cs typeface="Arial"/>
              </a:rPr>
              <a:t>THE BRIDGE X BRIEF · EDITION 005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E839295-AB60-40D5-8E09-91F717FD5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790575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>
                <a:solidFill>
                  <a:srgbClr val="9DB7B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DB7B5"/>
                </a:solidFill>
                <a:latin typeface="Arial"/>
                <a:ea typeface="Arial"/>
                <a:cs typeface="Arial"/>
              </a:rPr>
              <a:t>WHAT THE RULEBOOK MUST RESOLVE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E70DBCA-17E8-4CDF-BD1E-C79EA6A2C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0" y="361950"/>
            <a:ext cx="15811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2400" b="1">
                <a:solidFill>
                  <a:srgbClr val="D7B35C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D7B35C"/>
                </a:solidFill>
                <a:latin typeface="Arial"/>
                <a:ea typeface="Arial"/>
                <a:cs typeface="Arial"/>
              </a:rPr>
              <a:t>BXB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D0ABC24-671B-4DAC-8AF2-3722CE1D2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0" y="885825"/>
            <a:ext cx="1390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9DB7B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DB7B5"/>
                </a:solidFill>
                <a:latin typeface="Arial"/>
                <a:ea typeface="Arial"/>
                <a:cs typeface="Arial"/>
              </a:rPr>
              <a:t>04 / 07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31A25D9-AAE6-4DAC-BAC8-A0D1BE114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8439150"/>
            <a:ext cx="11239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B3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8FEAE2F-D152-4C7C-859A-1C7022196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8439150"/>
            <a:ext cx="4000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D3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95579502-D493-4E6C-8870-44DAC1BFB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352550"/>
            <a:ext cx="11049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9615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900" b="1">
                <a:solidFill>
                  <a:srgbClr val="EDF5F1"/>
                </a:solidFill>
                <a:latin typeface="Arial"/>
                <a:ea typeface="Arial"/>
                <a:cs typeface="Arial"/>
              </a:defRPr>
            </a:pPr>
            <a:r>
              <a:rPr sz="3900" b="1">
                <a:solidFill>
                  <a:srgbClr val="EDF5F1"/>
                </a:solidFill>
                <a:latin typeface="Arial"/>
                <a:ea typeface="Arial"/>
                <a:cs typeface="Arial"/>
              </a:rPr>
              <a:t>THE REAL QUESTION IS WHO REGULATES WHAT.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5AB08543-E27D-44FD-AF3F-C751A05B3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857500"/>
            <a:ext cx="0" cy="37147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6414B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362F75D7-E3A8-4A4E-B182-DBC383628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000500"/>
            <a:ext cx="3333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6414B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05872E41-08B7-40B9-9282-D33F8EBEF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000500"/>
            <a:ext cx="3333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6414B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E37D16DD-B167-4377-82C0-FFA89E48B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571750"/>
            <a:ext cx="2857500" cy="2000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2A39"/>
          </a:solidFill>
          <a:ln xmlns:a="http://schemas.openxmlformats.org/drawingml/2006/main" w="28575">
            <a:solidFill>
              <a:srgbClr val="D7B35C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FB2A12B4-1DC4-4752-A6EA-4CB0B2143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048000"/>
            <a:ext cx="2095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99206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EDF5F1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EDF5F1"/>
                </a:solidFill>
                <a:latin typeface="Arial"/>
                <a:ea typeface="Arial"/>
                <a:cs typeface="Arial"/>
              </a:rPr>
              <a:t>DIGITAL-ASSET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EDF5F1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EDF5F1"/>
                </a:solidFill>
                <a:latin typeface="Arial"/>
                <a:ea typeface="Arial"/>
                <a:cs typeface="Arial"/>
              </a:rPr>
              <a:t>MARKET STRUCTURE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B601E8EE-988D-489F-B609-F7164C7E6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762500"/>
            <a:ext cx="2476500" cy="2476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A2230"/>
          </a:solidFill>
          <a:ln xmlns:a="http://schemas.openxmlformats.org/drawingml/2006/main" w="28575">
            <a:solidFill>
              <a:srgbClr val="58B8DF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FC4C5EBB-030A-44B3-9DF5-ACE8CAF27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5276850"/>
            <a:ext cx="2019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58B8D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58B8DF"/>
                </a:solidFill>
                <a:latin typeface="Arial"/>
                <a:ea typeface="Arial"/>
                <a:cs typeface="Arial"/>
              </a:rPr>
              <a:t>JURISDICTION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803F521F-7165-490E-8540-0429F4DCF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5715000"/>
            <a:ext cx="20193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850" b="1">
                <a:solidFill>
                  <a:srgbClr val="EDF5F1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EDF5F1"/>
                </a:solidFill>
                <a:latin typeface="Arial"/>
                <a:ea typeface="Arial"/>
                <a:cs typeface="Arial"/>
              </a:rPr>
              <a:t>SEC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EE737637-72BB-4FE8-A13F-B76C7D878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6419850"/>
            <a:ext cx="20193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75" b="1">
                <a:solidFill>
                  <a:srgbClr val="9DB7B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DB7B5"/>
                </a:solidFill>
                <a:latin typeface="Arial"/>
                <a:ea typeface="Arial"/>
                <a:cs typeface="Arial"/>
              </a:rPr>
              <a:t>SECURITIES · DISCLOSURE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82470BA1-DEC5-4CD8-B3C7-5018847D8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4762500"/>
            <a:ext cx="2476500" cy="2476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A2230"/>
          </a:solidFill>
          <a:ln xmlns:a="http://schemas.openxmlformats.org/drawingml/2006/main" w="28575">
            <a:solidFill>
              <a:srgbClr val="35D37D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8EAC3549-4B50-4BCE-BB8C-A89DFF2AB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5276850"/>
            <a:ext cx="2019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35D37D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35D37D"/>
                </a:solidFill>
                <a:latin typeface="Arial"/>
                <a:ea typeface="Arial"/>
                <a:cs typeface="Arial"/>
              </a:rPr>
              <a:t>JURISDICTION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E6F9D4F7-0477-44FB-B753-E2B32B8FE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5715000"/>
            <a:ext cx="20193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850" b="1">
                <a:solidFill>
                  <a:srgbClr val="EDF5F1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EDF5F1"/>
                </a:solidFill>
                <a:latin typeface="Arial"/>
                <a:ea typeface="Arial"/>
                <a:cs typeface="Arial"/>
              </a:rPr>
              <a:t>CFTC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5AE16F2A-9D8F-4881-807F-FFD5BD58D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6419850"/>
            <a:ext cx="20193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75" b="1">
                <a:solidFill>
                  <a:srgbClr val="9DB7B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DB7B5"/>
                </a:solidFill>
                <a:latin typeface="Arial"/>
                <a:ea typeface="Arial"/>
                <a:cs typeface="Arial"/>
              </a:rPr>
              <a:t>COMMODITIES · MARKETS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12F3F384-E69B-45DA-8018-0DD57F51A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5429250"/>
            <a:ext cx="4667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D7B35C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D7B35C"/>
                </a:solidFill>
                <a:latin typeface="Arial"/>
                <a:ea typeface="Arial"/>
                <a:cs typeface="Arial"/>
              </a:rPr>
              <a:t>PLATFORMS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AA122A71-F0ED-45FF-A93E-3704374C9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5953125"/>
            <a:ext cx="6096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9DB7B5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9DB7B5"/>
                </a:solidFill>
                <a:latin typeface="Arial"/>
                <a:ea typeface="Arial"/>
                <a:cs typeface="Arial"/>
              </a:rPr>
              <a:t>Registration · custody · customer assets · conflicts · decentralization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27EB5C70-FEF6-4C83-B15B-0EE397241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7953375"/>
            <a:ext cx="1066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>
                <a:solidFill>
                  <a:srgbClr val="9DB7B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DB7B5"/>
                </a:solidFill>
                <a:latin typeface="Arial"/>
                <a:ea typeface="Arial"/>
                <a:cs typeface="Arial"/>
              </a:rPr>
              <a:t>PRIMARY-SOURCE RECEIPTS · EDUCATION BY DEFAULT</a:t>
            </a:r>
          </a:p>
        </p:txBody>
      </p:sp>
    </p:spTree>
    <p:extLst>
      <p:ext uri="{BB962C8B-B14F-4D97-AF65-F5344CB8AC3E}">
        <p14:creationId xmlns:p14="http://schemas.microsoft.com/office/powerpoint/2010/main" val="11417545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6182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EE645BB6-6AF5-46E7-9251-8F71D6E69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0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D85DA6F-D5AE-4C82-BCDE-A02C35D0F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0"/>
            <a:ext cx="0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FEE8166-276A-4B27-8C08-69A7AFB70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0"/>
            <a:ext cx="0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FA232E6-2C60-469D-861D-A510CE668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0"/>
            <a:ext cx="0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354B1D3-76E8-46DB-9BC0-061B9177D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0"/>
            <a:ext cx="0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8833AD0-EB53-4DCA-95A3-8E74FFF0F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0"/>
            <a:ext cx="0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BB9504C-B708-4651-B566-BC53AEF66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0"/>
            <a:ext cx="0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7CD53E8-7630-422E-BCC4-57E907D1D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0"/>
            <a:ext cx="0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A7DAEBB-0224-4CD0-80AE-55BC268CF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0"/>
            <a:ext cx="0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B0FD938-5B22-4817-907A-89960866A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0"/>
            <a:ext cx="0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B6C2164-F06A-4F7D-9D22-015BCAF35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0"/>
            <a:ext cx="0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D83F73D-EE5B-4081-A6AC-2E7AF1317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0"/>
            <a:ext cx="0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15CC9E9-7ABB-45D2-8134-8207BCEB7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0"/>
            <a:ext cx="0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C2B709C-CFFF-46BB-ADCB-99F349352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0"/>
            <a:ext cx="0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E32E5C9-1B3E-4F0F-A928-D9F0CE79C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0"/>
            <a:ext cx="0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24C6136-6316-413D-93C3-BE7C305A2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0"/>
            <a:ext cx="0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F0FD4C8-E345-4472-B5EA-AF4CA0469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0"/>
            <a:ext cx="0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8E3A0BB-231B-4B7A-8AAC-2497374B9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0" y="0"/>
            <a:ext cx="0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FE11C8B-1949-45E0-8079-0A7F98639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0" y="0"/>
            <a:ext cx="0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6C0EE72-363A-497F-8B0A-273680A16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0" y="0"/>
            <a:ext cx="0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B4CEC00-2346-4EA1-92BF-596E5125F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0" y="0"/>
            <a:ext cx="0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5A6C217-EB7A-4B25-8B8E-746FD6C0B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D047110-985D-448D-9E04-4EE1978B3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62000"/>
            <a:ext cx="15240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F5ADBA0-C63B-49A6-ADE2-C35A80365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524000"/>
            <a:ext cx="15240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059A489-C08E-4C5B-A7A5-8BD857023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286000"/>
            <a:ext cx="15240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25930DB-419D-4518-9413-E9C52F3D2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048000"/>
            <a:ext cx="15240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B84D61F-E9D6-4009-99C8-01999868F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810000"/>
            <a:ext cx="15240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E7060E9-17F9-463E-AEF9-48D8C08AD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572000"/>
            <a:ext cx="15240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3538607-1A15-4364-99E8-8AC35CBC5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334000"/>
            <a:ext cx="15240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98F0CDD-CB43-4AA2-974A-C4800F384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96000"/>
            <a:ext cx="15240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118496F-0BC4-4D4C-909A-5FBBB7434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58000"/>
            <a:ext cx="15240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3E70079-C464-4129-A883-533AA5301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620000"/>
            <a:ext cx="15240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F5E0F83-7346-41F9-A3BB-7D0CE8668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8382000"/>
            <a:ext cx="15240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C484250-FB86-4145-9004-E0B049275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824">
              <a:alpha val="80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29C24BC-A32B-4F51-8AB1-5C7A699A4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28625"/>
            <a:ext cx="666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35D37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5D37D"/>
                </a:solidFill>
                <a:latin typeface="Arial"/>
                <a:ea typeface="Arial"/>
                <a:cs typeface="Arial"/>
              </a:rPr>
              <a:t>THE BRIDGE X BRIEF · EDITION 005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8257837-454B-47B8-9DD0-95A00BE91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790575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>
                <a:solidFill>
                  <a:srgbClr val="9DB7B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DB7B5"/>
                </a:solidFill>
                <a:latin typeface="Arial"/>
                <a:ea typeface="Arial"/>
                <a:cs typeface="Arial"/>
              </a:rPr>
              <a:t>THE FLOOR FIGHT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A116687-18F7-4C8C-BCF4-6228719E6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0" y="361950"/>
            <a:ext cx="15811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2400" b="1">
                <a:solidFill>
                  <a:srgbClr val="D7B35C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D7B35C"/>
                </a:solidFill>
                <a:latin typeface="Arial"/>
                <a:ea typeface="Arial"/>
                <a:cs typeface="Arial"/>
              </a:rPr>
              <a:t>BXB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C65787A-DDC5-4155-BDE2-500B5DA9F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0" y="885825"/>
            <a:ext cx="1390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9DB7B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DB7B5"/>
                </a:solidFill>
                <a:latin typeface="Arial"/>
                <a:ea typeface="Arial"/>
                <a:cs typeface="Arial"/>
              </a:rPr>
              <a:t>05 / 07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A933579-2013-463B-9453-4B13DFC6E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8439150"/>
            <a:ext cx="11239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B3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64CF036B-B50F-4C8A-A42B-979791BD7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8439150"/>
            <a:ext cx="4000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D3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05FDC0BC-FD97-4E8D-A04C-3149DE3DD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352550"/>
            <a:ext cx="11049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900" b="1">
                <a:solidFill>
                  <a:srgbClr val="EDF5F1"/>
                </a:solidFill>
                <a:latin typeface="Arial"/>
                <a:ea typeface="Arial"/>
                <a:cs typeface="Arial"/>
              </a:defRPr>
            </a:pPr>
            <a:r>
              <a:rPr sz="3900" b="1">
                <a:solidFill>
                  <a:srgbClr val="EDF5F1"/>
                </a:solidFill>
                <a:latin typeface="Arial"/>
                <a:ea typeface="Arial"/>
                <a:cs typeface="Arial"/>
              </a:rPr>
              <a:t>TWO TRUTHS MUST SURVIVE THE DEBATE.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9809FA7-CE52-4C14-A5EE-41566881B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952750"/>
            <a:ext cx="0" cy="41433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6414B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31A8565B-048A-4C4E-B9B3-B135C5672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143250"/>
            <a:ext cx="581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35D37D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35D37D"/>
                </a:solidFill>
                <a:latin typeface="Arial"/>
                <a:ea typeface="Arial"/>
                <a:cs typeface="Arial"/>
              </a:rPr>
              <a:t>COMPLIANT INNOVATION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3D598CD3-4BE7-4CA9-AE2C-E32C10DD0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952875"/>
            <a:ext cx="581025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2175" b="0">
                <a:solidFill>
                  <a:srgbClr val="EDF5F1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DF5F1"/>
                </a:solidFill>
                <a:latin typeface="Arial"/>
                <a:ea typeface="Arial"/>
                <a:cs typeface="Arial"/>
              </a:rPr>
              <a:t>Clear rules can keep responsible builders, capital and infrastructure operating in the United States.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7745599C-6B2D-4373-9B8D-7466ADC78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619125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35D37D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35D37D"/>
                </a:solidFill>
                <a:latin typeface="Arial"/>
                <a:ea typeface="Arial"/>
                <a:cs typeface="Arial"/>
              </a:rPr>
              <a:t>The upside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3D3FE25D-845E-4670-87A0-1D4DF4743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6572250"/>
            <a:ext cx="5810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9DB7B5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9DB7B5"/>
                </a:solidFill>
                <a:latin typeface="Arial"/>
                <a:ea typeface="Arial"/>
                <a:cs typeface="Arial"/>
              </a:rPr>
              <a:t>More competition. Better products. Stronger domestic rails.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B1893BF8-92CF-4E3B-95E4-48BCF6332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3143250"/>
            <a:ext cx="581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D7B35C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D7B35C"/>
                </a:solidFill>
                <a:latin typeface="Arial"/>
                <a:ea typeface="Arial"/>
                <a:cs typeface="Arial"/>
              </a:rPr>
              <a:t>ENFORCEABLE PROTECTION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A580990A-1BB8-496E-AD23-DCA024DEB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3952875"/>
            <a:ext cx="581025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2175" b="0">
                <a:solidFill>
                  <a:srgbClr val="EDF5F1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EDF5F1"/>
                </a:solidFill>
                <a:latin typeface="Arial"/>
                <a:ea typeface="Arial"/>
                <a:cs typeface="Arial"/>
              </a:rPr>
              <a:t>Clarity still must confront fraud, conflicts, market manipulation and illicit-finance risk.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0472B592-853E-43B4-934B-6BD1ACCC7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619125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D7B35C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D7B35C"/>
                </a:solidFill>
                <a:latin typeface="Arial"/>
                <a:ea typeface="Arial"/>
                <a:cs typeface="Arial"/>
              </a:rPr>
              <a:t>The standard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A2C0FE1D-A37F-42C4-8A43-130E028AC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6572250"/>
            <a:ext cx="5810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9DB7B5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9DB7B5"/>
                </a:solidFill>
                <a:latin typeface="Arial"/>
                <a:ea typeface="Arial"/>
                <a:cs typeface="Arial"/>
              </a:rPr>
              <a:t>Innovation without accountability is not durable infrastructure.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44F6530C-DB61-44E5-8F24-CA40692C6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7953375"/>
            <a:ext cx="1066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>
                <a:solidFill>
                  <a:srgbClr val="9DB7B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DB7B5"/>
                </a:solidFill>
                <a:latin typeface="Arial"/>
                <a:ea typeface="Arial"/>
                <a:cs typeface="Arial"/>
              </a:rPr>
              <a:t>PRIMARY-SOURCE RECEIPTS · EDUCATION BY DEFAULT</a:t>
            </a:r>
          </a:p>
        </p:txBody>
      </p:sp>
    </p:spTree>
    <p:extLst>
      <p:ext uri="{BB962C8B-B14F-4D97-AF65-F5344CB8AC3E}">
        <p14:creationId xmlns:p14="http://schemas.microsoft.com/office/powerpoint/2010/main" val="207090823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6182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2E02685F-7E24-4342-A3B8-B57BE1B29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0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D9D1B99-74EE-41B5-A1C3-8C746CE6E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0"/>
            <a:ext cx="0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999E94-E520-4057-BA39-86A896D7D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0"/>
            <a:ext cx="0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F4D2B86-FF08-4CAC-B6F0-3982C6D26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0"/>
            <a:ext cx="0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12472A-07B1-4D70-9EA2-E08F9E62A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0"/>
            <a:ext cx="0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69E7B8C-10BB-4FDF-9D2F-6732A3A65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0"/>
            <a:ext cx="0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8BB479D-8E99-4B51-B0AA-CC079526E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0"/>
            <a:ext cx="0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A201CBC-10AB-410D-8BA5-62A1B45AC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0"/>
            <a:ext cx="0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36C9CE8-3287-42CC-AD2B-24F9EF123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0"/>
            <a:ext cx="0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456D929-2E21-4D06-9475-76101EC96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0"/>
            <a:ext cx="0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02C5873-CA64-4DF3-B6ED-6966F715A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0"/>
            <a:ext cx="0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7CE5DCB-CE54-4B03-A774-FF09C5BE4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0"/>
            <a:ext cx="0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82AC0AB-454B-48E7-B2D4-E1F01C6A9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0"/>
            <a:ext cx="0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FA875C4-97A4-4D28-B629-5B0CDB9EC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0"/>
            <a:ext cx="0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0F8A02E-F007-419B-9EFF-C723E3463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0"/>
            <a:ext cx="0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763C120-A5E4-49B3-A245-C0A0A024A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0"/>
            <a:ext cx="0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904515C-F084-40D7-A24D-AFCB71E2E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0"/>
            <a:ext cx="0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F7F783F-B1BD-488B-90D3-5952DEA18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0" y="0"/>
            <a:ext cx="0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DE680E4-0AAE-4C14-A969-BC0754548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0" y="0"/>
            <a:ext cx="0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21272E4-9A8D-4BB1-8E0B-6B9BE36A8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0" y="0"/>
            <a:ext cx="0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823EEAC-DE71-4549-88B4-5BB1ED70C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0" y="0"/>
            <a:ext cx="0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6D78560-8D56-4B6C-A7BA-840792A0A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F8DBE26-7849-4558-A718-0AC8C0B1A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62000"/>
            <a:ext cx="15240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069D0CE-4BF7-4B6F-B98E-2446B0536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524000"/>
            <a:ext cx="15240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8198AB5-AEF3-4C3A-841A-E2E2513A9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286000"/>
            <a:ext cx="15240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116558B-4F50-4CD0-B91B-99762EA1E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048000"/>
            <a:ext cx="15240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69DB2EA-1A09-4B50-AA3E-7C69E269C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810000"/>
            <a:ext cx="15240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A6ED2A6-8A19-415D-8670-46A9D0C06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572000"/>
            <a:ext cx="15240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21ABE43-36AE-4AF3-887A-81AE558FC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334000"/>
            <a:ext cx="15240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90FD490-265E-4B21-B111-F151EAEA3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96000"/>
            <a:ext cx="15240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CA0D0E7-CF84-496B-BA4B-639345F19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58000"/>
            <a:ext cx="15240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F56D33D-FD6B-4A4E-90BB-55186F628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620000"/>
            <a:ext cx="15240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75B9BB5-D405-4681-BE6F-F0C64BC53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8382000"/>
            <a:ext cx="15240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F5746E5-3F87-48D6-8C08-382B68BA6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824">
              <a:alpha val="80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9DE3C10-2500-4526-9A6F-F8DFBEF4D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28625"/>
            <a:ext cx="666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35D37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5D37D"/>
                </a:solidFill>
                <a:latin typeface="Arial"/>
                <a:ea typeface="Arial"/>
                <a:cs typeface="Arial"/>
              </a:rPr>
              <a:t>THE BRIDGE X BRIEF · EDITION 005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9AC83AF-C3AB-4400-AE38-87178FC55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790575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>
                <a:solidFill>
                  <a:srgbClr val="9DB7B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DB7B5"/>
                </a:solidFill>
                <a:latin typeface="Arial"/>
                <a:ea typeface="Arial"/>
                <a:cs typeface="Arial"/>
              </a:rPr>
              <a:t>THE MAIN STREET TEST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9B03190-9D00-4CBA-AAA9-E13144CA3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0" y="361950"/>
            <a:ext cx="15811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2400" b="1">
                <a:solidFill>
                  <a:srgbClr val="D7B35C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D7B35C"/>
                </a:solidFill>
                <a:latin typeface="Arial"/>
                <a:ea typeface="Arial"/>
                <a:cs typeface="Arial"/>
              </a:rPr>
              <a:t>BXB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DE872FF-FE5D-49D2-A998-749252986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0" y="885825"/>
            <a:ext cx="1390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9DB7B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DB7B5"/>
                </a:solidFill>
                <a:latin typeface="Arial"/>
                <a:ea typeface="Arial"/>
                <a:cs typeface="Arial"/>
              </a:rPr>
              <a:t>06 / 07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1AD12D2-1E45-4FFD-A47C-1E8B4AE46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8439150"/>
            <a:ext cx="11239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B3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761E6C59-ABF2-459B-BE63-6C618062F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8439150"/>
            <a:ext cx="4000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D3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0B938A7A-549D-4676-ACE2-B7817479E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352550"/>
            <a:ext cx="11049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9615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900" b="1">
                <a:solidFill>
                  <a:srgbClr val="EDF5F1"/>
                </a:solidFill>
                <a:latin typeface="Arial"/>
                <a:ea typeface="Arial"/>
                <a:cs typeface="Arial"/>
              </a:defRPr>
            </a:pPr>
            <a:r>
              <a:rPr sz="3900" b="1">
                <a:solidFill>
                  <a:srgbClr val="EDF5F1"/>
                </a:solidFill>
                <a:latin typeface="Arial"/>
                <a:ea typeface="Arial"/>
                <a:cs typeface="Arial"/>
              </a:rPr>
              <a:t>IF THE RULES WORK, PEOPLE SHOULD FEEL IT.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6C2B522-CCFE-4CDA-BDDB-89132129E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875" y="5095875"/>
            <a:ext cx="48101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6414B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85671A35-9D8A-479A-AC45-D552E5A7D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5095875"/>
            <a:ext cx="48101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6414B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A06FF204-B9AA-4297-9D9E-557B28A30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3714750"/>
            <a:ext cx="2667000" cy="2667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A2230"/>
          </a:solidFill>
          <a:ln xmlns:a="http://schemas.openxmlformats.org/drawingml/2006/main" w="28575">
            <a:solidFill>
              <a:srgbClr val="58B8DF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5329F357-04CD-4BE0-A2BC-045B57BCB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" y="4229100"/>
            <a:ext cx="2209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58B8D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58B8D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6E1540AE-8302-4101-A1F2-DB5AE40BD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4475" y="4667250"/>
            <a:ext cx="2590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850" b="1">
                <a:solidFill>
                  <a:srgbClr val="EDF5F1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EDF5F1"/>
                </a:solidFill>
                <a:latin typeface="Arial"/>
                <a:ea typeface="Arial"/>
                <a:cs typeface="Arial"/>
              </a:rPr>
              <a:t>ACCESS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6732C851-E37B-487E-A168-F18CBB471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" y="5372100"/>
            <a:ext cx="2209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75" b="1">
                <a:solidFill>
                  <a:srgbClr val="9DB7B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DB7B5"/>
                </a:solidFill>
                <a:latin typeface="Arial"/>
                <a:ea typeface="Arial"/>
                <a:cs typeface="Arial"/>
              </a:rPr>
              <a:t>TRUSTED INSTITUTIONS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68CA309C-1A18-4931-95C8-4FDA4D121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714750"/>
            <a:ext cx="2667000" cy="2667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A2230"/>
          </a:solidFill>
          <a:ln xmlns:a="http://schemas.openxmlformats.org/drawingml/2006/main" w="28575">
            <a:solidFill>
              <a:srgbClr val="D7B35C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A33FACB2-C8BF-4438-9DAE-0C757F56D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229100"/>
            <a:ext cx="2209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D7B35C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D7B35C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674953D2-8256-4FF3-8AE7-DA8270AF6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667250"/>
            <a:ext cx="2590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850" b="1">
                <a:solidFill>
                  <a:srgbClr val="EDF5F1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EDF5F1"/>
                </a:solidFill>
                <a:latin typeface="Arial"/>
                <a:ea typeface="Arial"/>
                <a:cs typeface="Arial"/>
              </a:rPr>
              <a:t>PROTECTION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C32E2F88-717E-4FFA-BF03-FFBEFEBB8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5372100"/>
            <a:ext cx="2209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75" b="1">
                <a:solidFill>
                  <a:srgbClr val="9DB7B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DB7B5"/>
                </a:solidFill>
                <a:latin typeface="Arial"/>
                <a:ea typeface="Arial"/>
                <a:cs typeface="Arial"/>
              </a:rPr>
              <a:t>CUSTODY · REMEDIES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F61EB611-0ED5-4278-BAE1-63AAE249D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3714750"/>
            <a:ext cx="2667000" cy="2667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A2230"/>
          </a:solidFill>
          <a:ln xmlns:a="http://schemas.openxmlformats.org/drawingml/2006/main" w="28575">
            <a:solidFill>
              <a:srgbClr val="35D37D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84A7B4D2-4CA9-4A86-9BA9-6B1761D93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25225" y="4229100"/>
            <a:ext cx="2209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35D37D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35D37D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BE87F0A6-2AC7-40DE-A556-B28607B59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34725" y="4667250"/>
            <a:ext cx="2590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850" b="1">
                <a:solidFill>
                  <a:srgbClr val="EDF5F1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EDF5F1"/>
                </a:solidFill>
                <a:latin typeface="Arial"/>
                <a:ea typeface="Arial"/>
                <a:cs typeface="Arial"/>
              </a:rPr>
              <a:t>COMPETITION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2C4363B0-3BEE-490A-92E8-D4B0A4FFB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25225" y="5372100"/>
            <a:ext cx="2209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75" b="1">
                <a:solidFill>
                  <a:srgbClr val="9DB7B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DB7B5"/>
                </a:solidFill>
                <a:latin typeface="Arial"/>
                <a:ea typeface="Arial"/>
                <a:cs typeface="Arial"/>
              </a:rPr>
              <a:t>MORE RESPONSIBLE CHOICE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C7B1AFE7-340D-4B8F-A291-D25A4E953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6953250"/>
            <a:ext cx="1095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950" b="1">
                <a:solidFill>
                  <a:srgbClr val="EDF5F1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EDF5F1"/>
                </a:solidFill>
                <a:latin typeface="Arial"/>
                <a:ea typeface="Arial"/>
                <a:cs typeface="Arial"/>
              </a:rPr>
              <a:t>A rulebook succeeds when customers understand ownership, fees and recourse — and when credible institutions can compete.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DBA5183A-C31B-4ADE-9F9E-4DA4D24B9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7953375"/>
            <a:ext cx="1066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>
                <a:solidFill>
                  <a:srgbClr val="9DB7B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DB7B5"/>
                </a:solidFill>
                <a:latin typeface="Arial"/>
                <a:ea typeface="Arial"/>
                <a:cs typeface="Arial"/>
              </a:rPr>
              <a:t>PRIMARY-SOURCE RECEIPTS · EDUCATION BY DEFAULT</a:t>
            </a:r>
          </a:p>
        </p:txBody>
      </p:sp>
    </p:spTree>
    <p:extLst>
      <p:ext uri="{BB962C8B-B14F-4D97-AF65-F5344CB8AC3E}">
        <p14:creationId xmlns:p14="http://schemas.microsoft.com/office/powerpoint/2010/main" val="126002084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6182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92AC0BAA-EACA-4BC9-9D30-2719DE8C1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0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ABE99C8-6BF8-4736-9E42-578B91AC9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0"/>
            <a:ext cx="0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FBA88C1-073C-41B1-B731-0F7C722CA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0"/>
            <a:ext cx="0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515F52F-80D7-444A-A2CE-84B173A6A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0"/>
            <a:ext cx="0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24394E8-0112-44A7-8451-56D0F9FAD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0"/>
            <a:ext cx="0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E27C3B8-1426-404D-8B7D-B05CEAA34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0"/>
            <a:ext cx="0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C52C105-90DE-4345-9A8B-2815A3517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0"/>
            <a:ext cx="0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1024E5B-CF89-40FB-A7CE-92BB5BF74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0"/>
            <a:ext cx="0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5857CC7-6ABB-439C-9E2E-674432CC7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0"/>
            <a:ext cx="0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DA8ABD8-33F7-4D1E-B771-B2967F22B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0"/>
            <a:ext cx="0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980F365-A4C0-4CF7-BFC4-59B54D2D5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0"/>
            <a:ext cx="0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F6F1F35-1876-4CA1-9D17-A82FB9DEE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0"/>
            <a:ext cx="0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639B5F6-232F-4978-B088-83FA59D5D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0"/>
            <a:ext cx="0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28E9639-8C42-4738-9878-F8EF0A660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0"/>
            <a:ext cx="0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C0F819C-744C-414B-AE18-5A6295C43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0"/>
            <a:ext cx="0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ED784BA-6BE1-41BC-B937-AF12637F0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0"/>
            <a:ext cx="0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3A90776-2218-46EF-A86C-396645367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0"/>
            <a:ext cx="0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BA3CEB1-AB27-4FC0-8869-EC6C1AF2F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0" y="0"/>
            <a:ext cx="0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17E6E8E-8411-4AFA-AB3C-A136275D3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0" y="0"/>
            <a:ext cx="0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9596A4F-438B-4BDC-982E-978E94CB9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0" y="0"/>
            <a:ext cx="0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106B812-FB8A-45F0-8E85-4E08C26C0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0" y="0"/>
            <a:ext cx="0" cy="857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888C700-5F23-464A-92C2-D09B6868D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7018A08-9546-4BC8-BCF3-14F78A482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62000"/>
            <a:ext cx="15240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0B0895B-BB4C-40C5-8159-AE6D1F695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524000"/>
            <a:ext cx="15240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6B3A21C-3A51-43EC-82AC-21E97669F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286000"/>
            <a:ext cx="15240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AD0739D-89CD-4B57-88E4-44A2F08BD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048000"/>
            <a:ext cx="15240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4F8EB92-994B-4B02-BCAB-1A3590736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810000"/>
            <a:ext cx="15240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0264CBC-D665-4DE0-B2EE-6C003998F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572000"/>
            <a:ext cx="15240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C46C6E6-5F8F-49B2-B59E-B0FDDBEBD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334000"/>
            <a:ext cx="15240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CF0F391-1D1F-4704-A8BF-3D3621689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96000"/>
            <a:ext cx="15240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BA922DE-5577-4841-A5B9-EF17A8E00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58000"/>
            <a:ext cx="15240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251ADED-1928-4ED0-B291-874B27A45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620000"/>
            <a:ext cx="15240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A511377-5F85-47EE-BECC-46DA0B079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8382000"/>
            <a:ext cx="15240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2734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AD9BFBC-0427-42F9-853B-4B0C48311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824">
              <a:alpha val="80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43E7313-D37E-4FE3-A2EB-4C0216F44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28625"/>
            <a:ext cx="666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35D37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5D37D"/>
                </a:solidFill>
                <a:latin typeface="Arial"/>
                <a:ea typeface="Arial"/>
                <a:cs typeface="Arial"/>
              </a:rPr>
              <a:t>THE BRIDGE X BRIEF · EDITION 005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B57F264-FE49-4C45-BA3C-EFF613C9E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790575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>
                <a:solidFill>
                  <a:srgbClr val="9DB7B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DB7B5"/>
                </a:solidFill>
                <a:latin typeface="Arial"/>
                <a:ea typeface="Arial"/>
                <a:cs typeface="Arial"/>
              </a:rPr>
              <a:t>READ THE FULL SOURCED BRIEF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72B163E-8579-4723-8CF8-DED8FB7DB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0" y="361950"/>
            <a:ext cx="15811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2400" b="1">
                <a:solidFill>
                  <a:srgbClr val="D7B35C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D7B35C"/>
                </a:solidFill>
                <a:latin typeface="Arial"/>
                <a:ea typeface="Arial"/>
                <a:cs typeface="Arial"/>
              </a:rPr>
              <a:t>BXB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7308A5E-0C4E-4530-833A-5EB0CB099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0" y="885825"/>
            <a:ext cx="1390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9DB7B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DB7B5"/>
                </a:solidFill>
                <a:latin typeface="Arial"/>
                <a:ea typeface="Arial"/>
                <a:cs typeface="Arial"/>
              </a:rPr>
              <a:t>07 / 07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F8911FA9-8DA7-42E6-80BE-8F77A83ED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8439150"/>
            <a:ext cx="11239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B3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510F9F5-73A6-412C-B125-31DE3A166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8439150"/>
            <a:ext cx="4000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D3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9393A04-161D-47E8-BBB5-9C32EF2C9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71450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750" b="1">
                <a:solidFill>
                  <a:srgbClr val="EDF5F1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EDF5F1"/>
                </a:solidFill>
                <a:latin typeface="Arial"/>
                <a:ea typeface="Arial"/>
                <a:cs typeface="Arial"/>
              </a:rPr>
              <a:t>THE VOTE MAY BE CLOSE.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56033BB0-3F82-465B-B71B-82786E614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381250"/>
            <a:ext cx="11430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650" b="1">
                <a:solidFill>
                  <a:srgbClr val="D7B35C"/>
                </a:solidFill>
                <a:latin typeface="Arial"/>
                <a:ea typeface="Arial"/>
                <a:cs typeface="Arial"/>
              </a:defRPr>
            </a:pPr>
            <a:r>
              <a:rPr sz="4650" b="1">
                <a:solidFill>
                  <a:srgbClr val="D7B35C"/>
                </a:solidFill>
                <a:latin typeface="Arial"/>
                <a:ea typeface="Arial"/>
                <a:cs typeface="Arial"/>
              </a:rPr>
              <a:t>THE WORK IS MUCH BIGGER.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3CA12AB5-2818-47C6-A5A0-B035C4F08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714750"/>
            <a:ext cx="10191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2100" b="0">
                <a:solidFill>
                  <a:srgbClr val="9DB7B5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9DB7B5"/>
                </a:solidFill>
                <a:latin typeface="Arial"/>
                <a:ea typeface="Arial"/>
                <a:cs typeface="Arial"/>
              </a:rPr>
              <a:t>Bridge X Brief 005 separates the procedural signal from the headline noise — then maps the regulatory, institutional and Main Street implications.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44BD0B77-C249-46BD-88AF-86454FB20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810250"/>
            <a:ext cx="9620250" cy="971550"/>
          </a:xfrm>
          <a:prstGeom xmlns:a="http://schemas.openxmlformats.org/drawingml/2006/main" prst="roundRect">
            <a:avLst>
              <a:gd name="adj" fmla="val 7843"/>
            </a:avLst>
          </a:prstGeom>
          <a:solidFill xmlns:a="http://schemas.openxmlformats.org/drawingml/2006/main">
            <a:srgbClr val="0E2A39"/>
          </a:solidFill>
          <a:ln xmlns:a="http://schemas.openxmlformats.org/drawingml/2006/main" w="19050">
            <a:solidFill>
              <a:srgbClr val="D7B35C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67481E9A-274F-403D-9731-C0559C0A9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6038850"/>
            <a:ext cx="8953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35D37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35D37D"/>
                </a:solidFill>
                <a:latin typeface="Arial"/>
                <a:ea typeface="Arial"/>
                <a:cs typeface="Arial"/>
                <a:hlinkClick xmlns:r="http://schemas.openxmlformats.org/officeDocument/2006/relationships" r:id="R28a7e15345ee44a7"/>
              </a:rPr>
              <a:t>READ EDITION 005  →  BRIEF.BRIDGEXCAPITAL.AI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DBEB529D-BC4B-417D-9C2A-BDBC1879E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3810000"/>
            <a:ext cx="3143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1">
                <a:solidFill>
                  <a:srgbClr val="D7B35C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D7B35C"/>
                </a:solidFill>
                <a:latin typeface="Arial"/>
                <a:ea typeface="Arial"/>
                <a:cs typeface="Arial"/>
              </a:rPr>
              <a:t>EXECUTIVE INTELLIGENCE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80766FA9-B2D6-4F3E-A01C-8F504F5D5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4333875"/>
            <a:ext cx="3143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1">
                <a:solidFill>
                  <a:srgbClr val="35D37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5D37D"/>
                </a:solidFill>
                <a:latin typeface="Arial"/>
                <a:ea typeface="Arial"/>
                <a:cs typeface="Arial"/>
              </a:rPr>
              <a:t>EDUCATION BY DEFAULT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BC6ADFC0-25FE-4493-BDD4-49207BEBA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4857750"/>
            <a:ext cx="3143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1">
                <a:solidFill>
                  <a:srgbClr val="58B8D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58B8DF"/>
                </a:solidFill>
                <a:latin typeface="Arial"/>
                <a:ea typeface="Arial"/>
                <a:cs typeface="Arial"/>
              </a:rPr>
              <a:t>PRIMARY-SOURCE RECEIPTS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4AC9AA2E-8F13-4E26-A072-671C1173B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7953375"/>
            <a:ext cx="1066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>
                <a:solidFill>
                  <a:srgbClr val="9DB7B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DB7B5"/>
                </a:solidFill>
                <a:latin typeface="Arial"/>
                <a:ea typeface="Arial"/>
                <a:cs typeface="Arial"/>
              </a:rPr>
              <a:t>BRIDGE X CAPITAL.AI · WEEKLY EXECUTIVE INTELLIGENCE</a:t>
            </a:r>
          </a:p>
        </p:txBody>
      </p:sp>
    </p:spTree>
    <p:extLst>
      <p:ext uri="{BB962C8B-B14F-4D97-AF65-F5344CB8AC3E}">
        <p14:creationId xmlns:p14="http://schemas.microsoft.com/office/powerpoint/2010/main" val="40859323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2026-08-09T21:57:54.8420000Z</dcterms:created>
  <dcterms:modified xsi:type="dcterms:W3CDTF">2026-08-09T21:57:54.8420000Z</dcterms:modified>
</coreProperties>
</file>