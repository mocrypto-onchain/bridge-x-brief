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045adfa587467b" /><Relationship Type="http://schemas.openxmlformats.org/officeDocument/2006/relationships/extended-properties" Target="/docProps/app.xml" Id="R5458df53dd8c4df5" /><Relationship Type="http://schemas.openxmlformats.org/officeDocument/2006/relationships/officeDocument" Target="/ppt/presentation.xml" Id="Rdc7844aceb6249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006a04a99d4e27"/>
  </p:sldMasterIdLst>
  <p:notesMasterIdLst>
    <p:notesMasterId xmlns:r="http://schemas.openxmlformats.org/officeDocument/2006/relationships" r:id="Rd3fb27d323424eb6"/>
  </p:notesMasterIdLst>
  <p:sldIdLst>
    <p:sldId xmlns:r="http://schemas.openxmlformats.org/officeDocument/2006/relationships" id="256" r:id="Rc59bb2220a324fcb"/>
    <p:sldId xmlns:r="http://schemas.openxmlformats.org/officeDocument/2006/relationships" id="257" r:id="Rd84558f03c3e4afe"/>
    <p:sldId xmlns:r="http://schemas.openxmlformats.org/officeDocument/2006/relationships" id="258" r:id="R148b176c1f5b4a18"/>
    <p:sldId xmlns:r="http://schemas.openxmlformats.org/officeDocument/2006/relationships" id="259" r:id="Rd3a1523efe674fac"/>
    <p:sldId xmlns:r="http://schemas.openxmlformats.org/officeDocument/2006/relationships" id="260" r:id="R4758d850876b44cb"/>
    <p:sldId xmlns:r="http://schemas.openxmlformats.org/officeDocument/2006/relationships" id="261" r:id="R425aaf32262c4223"/>
    <p:sldId xmlns:r="http://schemas.openxmlformats.org/officeDocument/2006/relationships" id="262" r:id="R37484b393a564b26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f06bf25e3348e1" /><Relationship Type="http://schemas.openxmlformats.org/officeDocument/2006/relationships/slideMaster" Target="/ppt/slideMasters/slideMaster1.xml" Id="Rbc006a04a99d4e27" /><Relationship Type="http://schemas.openxmlformats.org/officeDocument/2006/relationships/notesMaster" Target="/ppt/notesMasters/notesMaster1.xml" Id="Rd3fb27d323424eb6" /><Relationship Type="http://schemas.openxmlformats.org/officeDocument/2006/relationships/presProps" Target="/ppt/presProps.xml" Id="R0d5f3dace36048ab" /><Relationship Type="http://schemas.openxmlformats.org/officeDocument/2006/relationships/tableStyles" Target="/ppt/tableStyles.xml" Id="Ra9f8fa5bdf7a44ee" /><Relationship Type="http://schemas.openxmlformats.org/officeDocument/2006/relationships/slide" Target="/ppt/slides/slide1.xml" Id="Rc59bb2220a324fcb" /><Relationship Type="http://schemas.openxmlformats.org/officeDocument/2006/relationships/slide" Target="/ppt/slides/slide2.xml" Id="Rd84558f03c3e4afe" /><Relationship Type="http://schemas.openxmlformats.org/officeDocument/2006/relationships/slide" Target="/ppt/slides/slide3.xml" Id="R148b176c1f5b4a18" /><Relationship Type="http://schemas.openxmlformats.org/officeDocument/2006/relationships/slide" Target="/ppt/slides/slide4.xml" Id="Rd3a1523efe674fac" /><Relationship Type="http://schemas.openxmlformats.org/officeDocument/2006/relationships/slide" Target="/ppt/slides/slide5.xml" Id="R4758d850876b44cb" /><Relationship Type="http://schemas.openxmlformats.org/officeDocument/2006/relationships/slide" Target="/ppt/slides/slide6.xml" Id="R425aaf32262c4223" /><Relationship Type="http://schemas.openxmlformats.org/officeDocument/2006/relationships/slide" Target="/ppt/slides/slide7.xml" Id="R37484b393a564b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ccb11cc53444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41367e976c4b94" /><Relationship Type="http://schemas.openxmlformats.org/officeDocument/2006/relationships/notesMaster" Target="/ppt/notesMasters/notesMaster1.xml" Id="R6d819899f40549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a2f91bc68940ed" /><Relationship Type="http://schemas.openxmlformats.org/officeDocument/2006/relationships/notesMaster" Target="/ppt/notesMasters/notesMaster1.xml" Id="R63a3f4d571de4f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5440061f6e4a43" /><Relationship Type="http://schemas.openxmlformats.org/officeDocument/2006/relationships/notesMaster" Target="/ppt/notesMasters/notesMaster1.xml" Id="R82805c5871da42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172e748b474d33" /><Relationship Type="http://schemas.openxmlformats.org/officeDocument/2006/relationships/notesMaster" Target="/ppt/notesMasters/notesMaster1.xml" Id="R0ef4ddcdea8d413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90acad78234177" /><Relationship Type="http://schemas.openxmlformats.org/officeDocument/2006/relationships/notesMaster" Target="/ppt/notesMasters/notesMaster1.xml" Id="R007063f818094c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af1b1682c24d18" /><Relationship Type="http://schemas.openxmlformats.org/officeDocument/2006/relationships/notesMaster" Target="/ppt/notesMasters/notesMaster1.xml" Id="R30953d6e7e5d46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4dbe7cb0b8417b" /><Relationship Type="http://schemas.openxmlformats.org/officeDocument/2006/relationships/notesMaster" Target="/ppt/notesMasters/notesMaster1.xml" Id="Rbe859a605e3b4d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https://newsroom.wf.com/news-releases/news-details/2026/Wells-Fargo-to-Launch-Tokenized-Deposits-for-Corporate-and-Commercial-Clients/default.aspx</a:t>
            </a:r>
          </a:p>
          <a:p xmlns:a="http://schemas.openxmlformats.org/drawingml/2006/main">
            <a:r>
              <a:t>https://www.theclearinghouse.org/payment-systems/Articles/2026/06/Major-Financial-Institutions-Unveil-Bank-Led-On-Chain-Money-Initiative</a:t>
            </a:r>
          </a:p>
          <a:p xmlns:a="http://schemas.openxmlformats.org/drawingml/2006/main">
            <a:r>
              <a:t>https://www.bis.org/publ/bisbull73.htm</a:t>
            </a:r>
          </a:p>
          <a:p xmlns:a="http://schemas.openxmlformats.org/drawingml/2006/main">
            <a:r>
              <a:t>https://www.bis.org/publ/arpdf/ar2026e3.htm</a:t>
            </a:r>
          </a:p>
          <a:p xmlns:a="http://schemas.openxmlformats.org/drawingml/2006/main">
            <a:r>
              <a:t>https://www.fdic.gov/news/press-releases/2026/fdic-approves-proposal-implement-genius-act-requirements-and-standards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https://newsroom.wf.com/news-releases/news-details/2026/Wells-Fargo-to-Launch-Tokenized-Deposits-for-Corporate-and-Commercial-Clients/default.aspx</a:t>
            </a:r>
          </a:p>
          <a:p xmlns:a="http://schemas.openxmlformats.org/drawingml/2006/main">
            <a:r>
              <a:t>https://www.theclearinghouse.org/payment-systems/Articles/2026/06/Major-Financial-Institutions-Unveil-Bank-Led-On-Chain-Money-Initiative</a:t>
            </a:r>
          </a:p>
          <a:p xmlns:a="http://schemas.openxmlformats.org/drawingml/2006/main">
            <a:r>
              <a:t>https://www.bis.org/publ/bisbull73.htm</a:t>
            </a:r>
          </a:p>
          <a:p xmlns:a="http://schemas.openxmlformats.org/drawingml/2006/main">
            <a:r>
              <a:t>https://www.bis.org/publ/arpdf/ar2026e3.htm</a:t>
            </a:r>
          </a:p>
          <a:p xmlns:a="http://schemas.openxmlformats.org/drawingml/2006/main">
            <a:r>
              <a:t>https://www.fdic.gov/news/press-releases/2026/fdic-approves-proposal-implement-genius-act-requirements-and-standards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https://newsroom.wf.com/news-releases/news-details/2026/Wells-Fargo-to-Launch-Tokenized-Deposits-for-Corporate-and-Commercial-Clients/default.aspx</a:t>
            </a:r>
          </a:p>
          <a:p xmlns:a="http://schemas.openxmlformats.org/drawingml/2006/main">
            <a:r>
              <a:t>https://www.theclearinghouse.org/payment-systems/Articles/2026/06/Major-Financial-Institutions-Unveil-Bank-Led-On-Chain-Money-Initiative</a:t>
            </a:r>
          </a:p>
          <a:p xmlns:a="http://schemas.openxmlformats.org/drawingml/2006/main">
            <a:r>
              <a:t>https://www.bis.org/publ/bisbull73.htm</a:t>
            </a:r>
          </a:p>
          <a:p xmlns:a="http://schemas.openxmlformats.org/drawingml/2006/main">
            <a:r>
              <a:t>https://www.bis.org/publ/arpdf/ar2026e3.htm</a:t>
            </a:r>
          </a:p>
          <a:p xmlns:a="http://schemas.openxmlformats.org/drawingml/2006/main">
            <a:r>
              <a:t>https://www.fdic.gov/news/press-releases/2026/fdic-approves-proposal-implement-genius-act-requirements-and-standards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https://newsroom.wf.com/news-releases/news-details/2026/Wells-Fargo-to-Launch-Tokenized-Deposits-for-Corporate-and-Commercial-Clients/default.aspx</a:t>
            </a:r>
          </a:p>
          <a:p xmlns:a="http://schemas.openxmlformats.org/drawingml/2006/main">
            <a:r>
              <a:t>https://www.theclearinghouse.org/payment-systems/Articles/2026/06/Major-Financial-Institutions-Unveil-Bank-Led-On-Chain-Money-Initiative</a:t>
            </a:r>
          </a:p>
          <a:p xmlns:a="http://schemas.openxmlformats.org/drawingml/2006/main">
            <a:r>
              <a:t>https://www.bis.org/publ/bisbull73.htm</a:t>
            </a:r>
          </a:p>
          <a:p xmlns:a="http://schemas.openxmlformats.org/drawingml/2006/main">
            <a:r>
              <a:t>https://www.bis.org/publ/arpdf/ar2026e3.htm</a:t>
            </a:r>
          </a:p>
          <a:p xmlns:a="http://schemas.openxmlformats.org/drawingml/2006/main">
            <a:r>
              <a:t>https://www.fdic.gov/news/press-releases/2026/fdic-approves-proposal-implement-genius-act-requirements-and-standards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https://newsroom.wf.com/news-releases/news-details/2026/Wells-Fargo-to-Launch-Tokenized-Deposits-for-Corporate-and-Commercial-Clients/default.aspx</a:t>
            </a:r>
          </a:p>
          <a:p xmlns:a="http://schemas.openxmlformats.org/drawingml/2006/main">
            <a:r>
              <a:t>https://www.theclearinghouse.org/payment-systems/Articles/2026/06/Major-Financial-Institutions-Unveil-Bank-Led-On-Chain-Money-Initiative</a:t>
            </a:r>
          </a:p>
          <a:p xmlns:a="http://schemas.openxmlformats.org/drawingml/2006/main">
            <a:r>
              <a:t>https://www.bis.org/publ/bisbull73.htm</a:t>
            </a:r>
          </a:p>
          <a:p xmlns:a="http://schemas.openxmlformats.org/drawingml/2006/main">
            <a:r>
              <a:t>https://www.bis.org/publ/arpdf/ar2026e3.htm</a:t>
            </a:r>
          </a:p>
          <a:p xmlns:a="http://schemas.openxmlformats.org/drawingml/2006/main">
            <a:r>
              <a:t>https://www.fdic.gov/news/press-releases/2026/fdic-approves-proposal-implement-genius-act-requirements-and-standards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https://newsroom.wf.com/news-releases/news-details/2026/Wells-Fargo-to-Launch-Tokenized-Deposits-for-Corporate-and-Commercial-Clients/default.aspx</a:t>
            </a:r>
          </a:p>
          <a:p xmlns:a="http://schemas.openxmlformats.org/drawingml/2006/main">
            <a:r>
              <a:t>https://www.theclearinghouse.org/payment-systems/Articles/2026/06/Major-Financial-Institutions-Unveil-Bank-Led-On-Chain-Money-Initiative</a:t>
            </a:r>
          </a:p>
          <a:p xmlns:a="http://schemas.openxmlformats.org/drawingml/2006/main">
            <a:r>
              <a:t>https://www.bis.org/publ/bisbull73.htm</a:t>
            </a:r>
          </a:p>
          <a:p xmlns:a="http://schemas.openxmlformats.org/drawingml/2006/main">
            <a:r>
              <a:t>https://www.bis.org/publ/arpdf/ar2026e3.htm</a:t>
            </a:r>
          </a:p>
          <a:p xmlns:a="http://schemas.openxmlformats.org/drawingml/2006/main">
            <a:r>
              <a:t>https://www.fdic.gov/news/press-releases/2026/fdic-approves-proposal-implement-genius-act-requirements-and-standards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https://newsroom.wf.com/news-releases/news-details/2026/Wells-Fargo-to-Launch-Tokenized-Deposits-for-Corporate-and-Commercial-Clients/default.aspx</a:t>
            </a:r>
          </a:p>
          <a:p xmlns:a="http://schemas.openxmlformats.org/drawingml/2006/main">
            <a:r>
              <a:t>https://www.theclearinghouse.org/payment-systems/Articles/2026/06/Major-Financial-Institutions-Unveil-Bank-Led-On-Chain-Money-Initiative</a:t>
            </a:r>
          </a:p>
          <a:p xmlns:a="http://schemas.openxmlformats.org/drawingml/2006/main">
            <a:r>
              <a:t>https://www.bis.org/publ/bisbull73.htm</a:t>
            </a:r>
          </a:p>
          <a:p xmlns:a="http://schemas.openxmlformats.org/drawingml/2006/main">
            <a:r>
              <a:t>https://www.bis.org/publ/arpdf/ar2026e3.htm</a:t>
            </a:r>
          </a:p>
          <a:p xmlns:a="http://schemas.openxmlformats.org/drawingml/2006/main">
            <a:r>
              <a:t>https://www.fdic.gov/news/press-releases/2026/fdic-approves-proposal-implement-genius-act-requirements-and-standards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aa070ce2df43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d26b016a974b1e" /><Relationship Type="http://schemas.openxmlformats.org/officeDocument/2006/relationships/slideLayout" Target="/ppt/slideLayouts/slideLayout1.xml" Id="R6105f2d55fe74e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05f2d55fe74e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ed60acd804e9b" /><Relationship Type="http://schemas.openxmlformats.org/officeDocument/2006/relationships/hyperlink" Target="https://brief.bridgexcapital.ai/editions/006-your-bank-deposit-is-going-on-chain/index.html" TargetMode="External" Id="Rd0cb60a1616a4eb6" /><Relationship Type="http://schemas.openxmlformats.org/officeDocument/2006/relationships/notesSlide" Target="/ppt/notesSlides/notesSlide1.xml" Id="Rd4730c6b33f64e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c693d78ac4f20" /><Relationship Type="http://schemas.openxmlformats.org/officeDocument/2006/relationships/notesSlide" Target="/ppt/notesSlides/notesSlide2.xml" Id="Re9f03c9d135644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0202613374539" /><Relationship Type="http://schemas.openxmlformats.org/officeDocument/2006/relationships/notesSlide" Target="/ppt/notesSlides/notesSlide3.xml" Id="Rcf586037fbf74b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2d914a5904cdb" /><Relationship Type="http://schemas.openxmlformats.org/officeDocument/2006/relationships/notesSlide" Target="/ppt/notesSlides/notesSlide4.xml" Id="Rfbeacc4acb2b43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243802a854436" /><Relationship Type="http://schemas.openxmlformats.org/officeDocument/2006/relationships/notesSlide" Target="/ppt/notesSlides/notesSlide5.xml" Id="Rdaf21caec6524b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ea7f176cf4e92" /><Relationship Type="http://schemas.openxmlformats.org/officeDocument/2006/relationships/notesSlide" Target="/ppt/notesSlides/notesSlide6.xml" Id="R61bbc042ce0e4c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af8dd35f54819" /><Relationship Type="http://schemas.openxmlformats.org/officeDocument/2006/relationships/hyperlink" Target="https://brief.bridgexcapital.ai/editions/006-your-bank-deposit-is-going-on-chain/index.html" TargetMode="External" Id="R9073c5baca744729" /><Relationship Type="http://schemas.openxmlformats.org/officeDocument/2006/relationships/notesSlide" Target="/ppt/notesSlides/notesSlide7.xml" Id="R81b5883b8aef42e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107686E-4F42-48D0-98B4-54C724B8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CF5FAE-6F7C-45C3-9832-14A12F78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CE0B30-9187-4F79-88EE-EB2D5301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0922B1-0358-4591-A7ED-99C80A85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4E222C-C957-4B37-A452-FB0BD34C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B76E4E-B0D1-487A-9F52-5944EF3B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73E30-27A7-4C69-9ED5-633751C9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4DB34-42B1-4068-8E50-82CFE9AB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1A91C7-66E6-4CB7-9C0D-F66CD5A2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BA2EC-0A36-439E-B9F9-0AC4A941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E2988-DD82-4FB1-BB80-8E4D70A3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F75E05-D90E-421D-9D2C-4D016CD8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71194F-BAEC-4CCC-8560-3C12AA1E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82A052-C22F-405E-89FD-58E4804F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2CDCC3-52B0-42F4-A09A-D98A6E3C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DA6149-5120-4429-A6B5-AD278CBF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8E6978-2C33-45A9-8735-0E411938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2A83C-FE5A-4081-A197-AB8A280D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64B2A4-F0D6-4968-9E71-062862FC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71EA5F-4EAF-4AF4-BCBA-901AF768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E95FD1-85FC-48CA-A2C8-E9F21E83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0AD761-721E-4613-8EA2-B2FAF919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54BF49-1A4F-4FF5-BB49-EDF3F513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ACDF92-1D61-4EF8-B3D0-794E134F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91094A-D175-4584-85D5-3A4B2728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77346F-A660-43DB-94C8-CC25CEE9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8C6DF8-E768-4A38-B9D6-6F75C798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EB00CF-70C9-4090-877E-03611974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F4B48E-1845-4AB8-ACD4-4B6A9D0F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9B0295-EA1E-44A9-A405-3C9615C4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BBB489-2FE8-471C-B9A7-C0457DC6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923EB2-06E4-4BB7-B4FD-BB292B6C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900AB3-5713-4F1A-8624-A5251FAD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E7186F-F838-4403-87DD-DE059DBF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42713F-6EF3-4AD0-BE37-57F24ED0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AF25FB-29D0-47F8-8E93-7C4141D6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AUGUST 2026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222208-6FD3-4348-B4FD-2A554EB8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4A01D4-BAED-46ED-A71B-1D87CCA3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87416B8-04D5-4EAE-ACE1-486520F8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1EB52F-51C7-4A0C-A59E-F9589E07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D91C3A-24F8-4EFE-AA20-B29F038B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71750"/>
            <a:ext cx="4238625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41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C3D383-5D4A-4744-B20D-6DB4406A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43200"/>
            <a:ext cx="4238625" cy="942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8B8D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B7BBED-1755-4DA7-8CF5-1C73B5A5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914650"/>
            <a:ext cx="4238625" cy="819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6414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F20E9B-9B1C-4DBF-99E5-98405E47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86100"/>
            <a:ext cx="4238625" cy="6953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8B8D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568C38-E7BD-4762-9118-C2645F25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257550"/>
            <a:ext cx="4238625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41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7FFB08A-124B-4D0F-943E-7B2109B0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409575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41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29ADC4-0175-4CFA-B4C5-F2F39E40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62250"/>
            <a:ext cx="40957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D37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00B908-15EC-475C-9760-FBD4CD39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90875"/>
            <a:ext cx="409575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6414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22E7363-FC0C-4CEA-A50C-C4310471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19500"/>
            <a:ext cx="4095750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D37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1376470-E265-47E1-B857-88212CEF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52875"/>
            <a:ext cx="409575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41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C177C40-A048-4FAF-81A5-A6DE8734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33600"/>
            <a:ext cx="271462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9525">
            <a:solidFill>
              <a:srgbClr val="26414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FDECC8-13C4-4EE7-B1D1-705A246D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00250"/>
            <a:ext cx="271462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9525">
            <a:solidFill>
              <a:srgbClr val="26414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8FFE4D6-EDFB-4893-8D60-ADC5A77A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271462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9525">
            <a:solidFill>
              <a:srgbClr val="26414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816A620-5447-4A64-A86C-877C80C0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733550"/>
            <a:ext cx="271462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58B579-31C8-4791-8B70-D27B481D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76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REGULATED BANK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ABDD57F-0C14-472E-971A-F6C642F6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38450"/>
            <a:ext cx="223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DEPOSIT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E0B39B5-9CAE-4E93-B65F-C64F83A4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476625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BANK LIABILITY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75A09CC-25BB-4BC7-8AAD-F23ED778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76375"/>
            <a:ext cx="3048000" cy="3048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2A39"/>
          </a:solidFill>
          <a:ln xmlns:a="http://schemas.openxmlformats.org/drawingml/2006/main" w="38100">
            <a:solidFill>
              <a:srgbClr val="D7B35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D9ABD16-A0D0-4C4B-9AF5-E526602C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050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C2D4D1A-DF56-413C-A385-83BBA026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9825"/>
            <a:ext cx="11811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1824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449FD76-4A22-4A76-9766-58DDFB37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67000"/>
            <a:ext cx="800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TD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8E5C96D-5AB0-4ABB-B943-20EE12D2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38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TOKENIZED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8A626C9-D435-452F-BC62-39D32315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5297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DEPOSIT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15188C-388D-4DC4-B7D4-69AAB8DA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14287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A4284B2-205B-4A87-B7DC-E02FF71F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1676400"/>
            <a:ext cx="243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ALWAYS 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45A97FD-3303-4217-8EAE-4DD9B008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2076450"/>
            <a:ext cx="243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24 / 7 / 365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D1ABFDB-815B-4D36-A457-D7C7872B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2733675"/>
            <a:ext cx="243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WEEKENDS · HOLIDAYS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3516AC2-40A7-4B51-8A91-347386B6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7625" y="3571875"/>
            <a:ext cx="3143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5D18788-CDB0-40D5-A94E-DF225561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7175" y="3819525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2D6813D-EBBD-4023-8A31-D6137503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7175" y="4219575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PROGRAMMABLE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7B332A-B10A-44AF-A4F4-35244628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7175" y="48768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SMART-CONTRACT LOGIC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954E4C3-FA4E-4F1A-B5EE-AF7B1DE1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76875"/>
            <a:ext cx="34766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7017E91-DF9F-46F1-853E-DE1FC1F8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5724525"/>
            <a:ext cx="30575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INITIAL CORRIDOR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B69AFF1-5ECD-4A38-A431-32016638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124575"/>
            <a:ext cx="30575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USD  →  GBP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420F558-3F1B-42B2-84BC-DD57F421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781800"/>
            <a:ext cx="3057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SELECT CLIENTS · FALL 2026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4F69EAE-A4CB-4AAE-BB1D-EBD4B83D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86375"/>
            <a:ext cx="2524125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9050">
            <a:solidFill>
              <a:srgbClr val="58B8DF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A68049E-BCD1-4231-B26A-B0241320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24475"/>
            <a:ext cx="2295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THE BANK STAYS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D30C294-B214-4454-9175-8E4C38F9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286375"/>
            <a:ext cx="2905125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9050">
            <a:solidFill>
              <a:srgbClr val="35D37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E46E8AC-6090-471B-A100-321A5A91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5324475"/>
            <a:ext cx="2676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RAILS CHANGE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70436D6-4B78-4843-8430-8B8230DE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48375"/>
            <a:ext cx="866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YOUR BANK DEPOSIT IS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6EEB6CB-606A-4335-A15F-5246924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00825"/>
            <a:ext cx="904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GOING ON-CHAIN.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1249D7C-A7CD-4D28-86F8-FA5D9611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7381875"/>
            <a:ext cx="567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5D37D"/>
                </a:solidFill>
                <a:latin typeface="Arial"/>
                <a:ea typeface="Arial"/>
                <a:cs typeface="Arial"/>
                <a:hlinkClick xmlns:r="http://schemas.openxmlformats.org/officeDocument/2006/relationships" r:id="Rd0cb60a1616a4eb6"/>
              </a:rPr>
              <a:t>READ THE FULL BRIEF  →  BRIEF.BRIDGEXCAPITAL.AI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1592140-FFC2-494A-B340-0A22B24B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9097398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2DAC778-6D49-4210-94E1-F718015D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4A183-98E7-4E5E-BDB4-5FC9290A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3F437F-0518-4B45-95C4-9C64AB5C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127F3-7A54-4D27-B0E0-1227E231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1925D-84FA-4EB0-86FD-C13C2A18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41796-5170-4BDE-A4FB-88A6BFBC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EDA85-6314-44B3-96A8-FE32AACB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C7FEE1-A0A8-4633-8F5A-4219F027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C22F78-768F-494D-811B-EAB8A489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E89F8D-2082-4F03-A273-C31644D6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1C3CCF-21C0-4D26-8F74-5FBB3915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85C30B-9AC0-4835-B912-F5B0E604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6D41D1-FC0C-41DB-BBB2-4A9F6057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308C6A-063F-438B-A459-5B7871FC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CCA76C-FA40-4DBC-84D2-52F44999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6B57DD-E868-4205-A621-6318ABCF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F3F150-ED2C-4B9C-91EA-0BFF6C5D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D20AD-D965-4777-A352-B5A33426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655F3C-0A58-42C5-B815-58BE1FDA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D0BF99-486F-4E67-A922-6F15E902E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4A643E-E848-4A0A-9635-AE15280F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1A081D-4F5C-457C-85DA-06809D86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AFB108-E304-4E81-B591-B98F5A5A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FA6B03-A300-46CE-9478-0AB04852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55312F-B71E-4669-A4B7-A0C3B04F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CE79D7-D035-429C-A363-DA58FAA8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3D3D2B-7882-4527-BECA-E1F1843B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8CFD5F-842F-4048-8225-BC353E0C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B5AD48-46D9-4E60-8BF0-2E160DE9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56FD5F-2305-4116-A5F8-637A8482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119FE0-16DC-42AF-A190-784ED3DB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0BFA25-37DF-498A-B91B-D46609C0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D0B383-6C72-4076-BADE-303EA424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E5529E-883C-414A-BBFD-C06E751E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AE545E-8EA5-45AF-A5AE-B3D481F1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773779-00F4-4958-AC96-7D376D10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WHAT WELLS FARGO ANNOUNCED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8AA8C9-CE9B-4DBF-8EF6-29980740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C50092-2803-45A0-A04F-CF1C29DC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02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F2080A-CCC9-44A1-A9BB-EB88D552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D0722C-0151-401A-8396-C4D502C4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6CC2019-CD12-4D0C-9226-1E70D9C5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90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A MAJOR BANK IS PUTTING DEPOSITS ON NEW RAILS.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18101A-3941-4404-8A49-35C55203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WELLS FARGO · AUGUST 4, 2026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D01D8B-DF18-4A11-AF82-F3F9B1BB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3714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84D26FF-8A69-4E0F-9705-2FBAE88B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71900"/>
            <a:ext cx="3295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LAUNCH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9961B0-CD80-4D43-A73D-90DFFCBC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71950"/>
            <a:ext cx="3295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FALL 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50937B-CA34-491D-A478-EA539E8C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29175"/>
            <a:ext cx="3295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LIMITED U.S. ROLLOUT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8DA0D6-F9AC-4C54-B7F5-4C499C02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524250"/>
            <a:ext cx="3714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879370-AF08-49F4-90CC-868B0D70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771900"/>
            <a:ext cx="3295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FIRST USE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20CDA8-55A3-43E9-A7D4-6E6C5EAD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171950"/>
            <a:ext cx="3295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USD → GBP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16E104-2458-480C-81C5-4CEE0C24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829175"/>
            <a:ext cx="3295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SELECT CORPORATE CLIENTS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DBA94F-57E0-4885-BBC2-094F83B5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524250"/>
            <a:ext cx="3714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F57D3A3-C457-4071-B582-9D28EB3C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3771900"/>
            <a:ext cx="3295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EXPANSION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A3FB47-4406-419F-80B6-0F9CB3A0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171950"/>
            <a:ext cx="3295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2027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7408028-7816-428E-BBA1-E1E79B6B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829175"/>
            <a:ext cx="3295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MORE CLIENTS · CURRENCIES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0A0DCFD-A0DD-4043-B07F-31957734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429375"/>
            <a:ext cx="1209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The capability will sit inside the bank’s existing offering and route eligible payments onto tokenized deposits when timing, speed or flexibility improves.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ED7A65F-2389-4038-9497-EBE6A145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20118555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7CABEB5-1384-48BF-8540-26BB19FB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3ED82D-EA36-4BC1-8A05-276B199A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29B44-8CCC-47DC-A526-603175ED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1EAB5-6108-4539-8B7D-BEB5CDD9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44A34-CD7A-4D03-A200-3836AE50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6F76AC-C797-4136-8AF7-B925E6DC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8AFC2E-348B-48C1-909A-C002BA9F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8A7F4-DC66-464A-8349-4283AFD8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B67BA0-CF07-42DE-89DD-EA318B7F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AFD8BF-8A12-41B5-97FC-E5913A07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37BBF-DCD0-4184-AF69-57868B42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EEA91-3594-4EBB-A1A6-9577C6EC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04A40F-2641-4237-8629-02D7F5A2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3C725-18F0-4B24-9639-2EAC9A17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645E34-C561-40C3-903E-3EEABEFB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82E7D-590E-4024-BDC2-E855ACA6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29724-78B7-4854-83F0-3F1EC1CF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12F743-47CE-4ECB-9571-DBE77575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2A452D-D45D-4FF4-BBCC-A11C2DA0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99CE8E-0063-4DF6-9D5E-03F2875B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7B3DE1-3A5E-45B8-9067-471CBB09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709D70-7F81-4D66-83F7-141734EF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267144-F523-4EE7-9395-F9ABBE19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C09843-784B-4F03-9BF2-08679576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FCAD55-9963-491D-AE26-8DC69D5E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F9EBEF-18BD-447D-A86D-C61B57F3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D202F4-623B-4F2C-9F34-E16DC459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A93BC0-3FDD-445F-9F82-2CAB79F4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6C5D12-FBCA-48E7-BF2A-9F1A6F66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C5E14A-4942-4CD8-A86D-44F68EC6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706C08-01EC-4734-9372-3CEEC686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F35BC4-87E3-4226-94E4-D7249DB7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81DFA4-CE14-48D9-A414-24866F14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A0D488-FDA8-43EC-AFBF-D86950A2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87A190-FCC6-4CB1-9C6F-9D32548A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31D0BE-FB11-45CF-B5C4-F3F2C004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WHAT A TOKENIZED DEPOSIT 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4603FF-4E64-41C5-A40F-243EFE4F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14FD7C-30D0-483E-BA5B-C4D95820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03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18E4E2-3040-40CA-8E6C-0C2F98E1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D81188-90D5-42C8-8DE3-7C45BBAA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F93130-E104-4645-B927-0E1C193E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90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THE MONEY DOES NOT LEAVE THE BANKING SYSTEM.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971FE3-C714-42EE-9963-702FE857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86125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8581CF-4529-4FBA-B60E-BC4E1735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53377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LEGAL CLAIM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9FBE1DF-0E04-436D-8114-D2674F8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9338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BANK DEPOSIT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C8BCFB-018C-44C9-BBCE-37DB167B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5910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LIABILITY OF THE BANK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52A8126-696D-4480-BC62-3A35DE09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86125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1B78EB-A864-4BC4-B289-C84EF5C6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53377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DIGITAL FORM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8DAC88-6E9D-4F21-B5A3-2330D6EA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338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TOKENIZED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981FF2F-830E-4941-B0C6-0B68560E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910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REPRESENTED ON A LEDGER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1D73D82-EA31-439C-ABE2-3D5556AB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3286125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9E1CBFF-2AEC-49D1-AC74-64685C51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353377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NEW CAPABILITY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2E323A-0F57-4933-9233-F7E35873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39338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PROGRAMMABLE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55410DB-22A8-4CEA-A823-6DE2C3BA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45910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CONDITIONAL · ALWAYS 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2D73AAB-053E-4A3B-A4DA-48ADAC00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33875"/>
            <a:ext cx="14763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6414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00716F9-9B64-4302-8816-BDA374A0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333875"/>
            <a:ext cx="14763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6414B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6E6B5B7-4928-4622-9E25-1C3311FC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5722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Same underlying deposit relationship. A different operating layer for movement, logic and settlement.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13892C2-69FE-4E62-9EA6-8341B6C6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12396400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93BB243-24F3-4608-A4F4-C5867899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0EC04-3812-4A73-AB37-D2FEDD1B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1441A-6433-40B9-B79F-6239DCA7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FAA45-F63A-4040-B022-76B9003E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7D6EA-539E-48E2-BAB7-1164077F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28B72-F652-454F-BF2D-3FA08688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20600-E9CA-4848-9CF1-69E8829B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728E26-C673-42C4-97C1-236D7CF7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00B8C-28AA-4D7B-BB9D-4AC3C0EA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BD115-9E8A-485A-8A04-75261A60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AC6A44-B4CE-4BBD-ABD3-85745EDF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095FC-F111-483F-83D4-7DBB9367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C9932-6377-48DF-869C-67419DC8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93D0D5-4806-4F29-8350-F1CAE72C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2E39D3-8E11-484E-A4AB-C5888043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790985-D0CB-4CA6-A201-9CD8CD2A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BA62E2-076A-4962-B179-7B83EAD8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D909FA-59D9-4B22-9156-A8B7902C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0EB0B6-55EB-44C1-B3CD-1174C4B6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E2A92D-014D-4FE5-AFEC-B85013B8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683C68-5A4D-4853-AB5D-33130C19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D4FE98-63DD-4087-85D9-B63E34C6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8125B8-7A9D-4DA1-B3F6-0B84AEC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B3D822-DCBD-4E60-851A-5A9A2EF0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70C2D4-4EAE-41D5-B2AE-01BE7C3C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73C65E-9801-4C57-8B5C-968F1561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E393B7-04D2-41F6-B9E7-FD2FE5AE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9BBBCA-1199-4A7F-A8F4-F2C01E43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B59AFD-EDE4-4F6E-95C7-4DE5F270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8E9F04-2824-42EF-991E-1BFC696F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4277E2-4896-4EE7-9847-92F501DB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FDD446-42ED-406A-A974-ADBC3EBA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1D992B-A667-4B20-8A9A-28427153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36F393-AC91-4025-B9A1-C20A230F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233BF6-9BE9-4D4E-8F97-ED3643FD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E14107-0F0F-4202-848F-7AECF124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DEPOSIT TOKEN ≠ STABLECOIN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D59279-2D10-4B49-BFEA-646516B3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95158E-1552-42CE-83E9-C01699BA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04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9FC611-A4A2-4EE6-A091-9A077C87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FD1712-90A9-4C1C-9C3F-226B7946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FF507C2-5102-4925-BD45-5FBE59A1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90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SIMILAR TECHNOLOGY. DIFFERENT CLAIM.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0061D4-2E8E-4075-9C64-165CC873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9525" cy="422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57CB46E-B691-477D-810C-19BB9606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0375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TOKENIZED DEPOSIT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AF3F02-60EE-48F1-93A6-8E4FBA33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5524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Liability of an insured bank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Tied to an account relationship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Bank-regulated operating perimeter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Designed to preserve deposit status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390C7F-8312-411A-B7AA-52665A0F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00375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PAYMENT STABLECOIN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8E8DD3-EE28-41E0-8696-F8AC9D7D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33800"/>
            <a:ext cx="5524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Liability or obligation of an issuer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Backed by reserve assets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Circulates as a transferable token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Not itself an insured bank deposit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756484-D2CA-45B5-BDAB-E6058388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000875"/>
            <a:ext cx="1219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THE DISTINCTION IS NOT THE BLOCKCHAIN. IT IS THE CLAIM, ISSUER AND LEGAL PERIMETER.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311B84-F41A-44E8-B85A-071C692E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20913545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1A4F390-E4C6-4D18-BF33-73C3E7D9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952B0-1B9E-4481-A95B-468B9FDF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098BFC-D5FE-4C5D-BB78-FC8788E4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5C559-4E6D-41B8-9DD8-19E2B887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71E3B-03C6-4187-865D-DC81A886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159C0-9FA7-4662-9E50-EE094A5B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2602A-2619-4C1C-A0DE-8DD610E5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7AD51-F270-4673-9E04-88EAD809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429842-B04B-4ACF-8673-9B676B86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876D88-2FA7-406D-9256-04447FE3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431563-D72B-4A80-AF17-DCD319BB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A0E653-04F3-4B26-8DC0-628940CB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DC248E-C0B1-451E-929F-AA2BD90A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94D4C5-D465-4D25-9643-836FE352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322425-D182-4EBB-80AF-FED8BE86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E9603F-3587-407E-A978-788E36DF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187ADE-795D-48EB-8849-204CE860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B7E725-3B01-43CF-9798-CED8669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5C4820-26E9-476F-B1F3-7D52E670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2B3892-B896-455B-82FC-B59449B5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0CED2E-254E-4947-99C9-BC59A558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D096B1-8774-4831-8754-4A267721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CD68F-B42B-4B07-960A-5A1C6994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711533-BF85-4C4B-9BA6-794DD274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E7E893-5003-43E7-9999-766C8274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3EF9DE-DCC5-49D2-818F-232C455A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A1B84C-F83C-4313-A6A2-D6DD1784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936479-446F-4D54-9E01-4FDA66DC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2961E4-6055-4FD0-BADC-5D7CF36C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52F1F2-336A-4E7D-AB66-5D602DBC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5281CC-2AE1-4DC9-8B86-3E8BC06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90BA8F-6DE8-4F33-88F8-ACC6C9B3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EF0B39-7C9E-4310-BC20-24D76BE4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287B5D-A4AA-405F-B55D-2ED6AE9E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23604E-FE4B-41F4-AFCD-8100BFB7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C5C865-75CC-4291-B03A-F85076F8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WHAT BECOMES PROGRAMMABLE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B6BB59-8801-4DAB-BC53-F0C69446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3400D6-FFDB-40BF-9A6F-415F29E1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05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AAE18B-ABDC-4A0D-9A1E-2D9B999C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1412EB-DFE0-4424-935E-7002CA54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C94551-F771-48C9-BA2D-2ABF27BF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90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TREASURY STARTS OPERATING ON EVENT TIME.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111F3B-173E-4831-9910-63466677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14625"/>
            <a:ext cx="2857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2A39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F51959-0F18-4DE1-A1C9-DF16C65E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9087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CORPORATE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DBCF1C-A852-41C1-97AE-24F57C7F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TREASURY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70B6E9-1CD5-4D42-825C-6AFEF87A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7650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B00522A-C5EF-46F1-8710-D9C89EB8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72415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24/7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49F49E-83A7-452C-B3A7-E88DB659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12420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SETTLEMENT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B7A509-5373-404F-941B-F3AACD1F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7814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AUTOMATED WORKFLOW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AD9DD7-5814-4334-9996-CEDD3CE9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286125"/>
            <a:ext cx="16668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B65C4F2-E6C7-4C80-9BCC-1E8274E6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19D80F5-AF54-43D8-8E08-7AB4F5DC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72415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277DB4-A6E4-4432-944B-07765507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312420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PAYMENTS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9AD8C8C-B796-4587-A650-E70A1817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37814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AUTOMATED WORKFLOW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1A0481-75E3-45AA-8F74-607CEC7E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86125"/>
            <a:ext cx="1619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2CBDB91-A55B-4832-9FED-BCB693A0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95300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7530C8-68A3-45EF-8241-F69C8E0C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20065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CROSS-BORDER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7DFBF7E-B7D8-4CDE-A116-487B62D5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60070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MOVEMENT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B9AE96D-489A-441A-A187-1DBDB8F4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62579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AUTOMATED WORKFLOW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B059197-917F-435A-AFD9-C4B2F45D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762625"/>
            <a:ext cx="16668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3512B0E-5554-486F-A5F6-EF98E90B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95300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37D02B7-4C69-49DD-B701-D2283A63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520065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RICHER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EA5C6FC-B97D-499C-A4C4-3B54C83B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560070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D18E845-131B-4037-9837-33BF455B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2579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AUTOMATED WORKFLOW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B8A8424-324E-4A32-8291-069E4C6D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762625"/>
            <a:ext cx="1619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0F5F717-5737-4EDA-A1FD-84FF10B1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685800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Batch windows become optional. Payment instructions can carry timing, conditions and context.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366C279-91BD-40B6-9FB7-15E8C951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5703232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5855EC6-F22E-4B97-BFE9-F4EF1F45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68CCF-5196-4C3B-88FE-4E23AC57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F4BA59-ED9B-473A-99EE-3F82ED87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DF871-3272-4729-AE95-B5CC4A6B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9DBFFE-7BC9-4989-B010-DC1285C0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E3A03-8C31-4EE5-866B-B46A0295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BC0C69-3F3F-43D3-8009-9A768967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B63FE-479A-4A86-9285-9EF212AB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8D0E7-ECD1-4458-B289-38CC4380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E7E14-A4C1-4499-B6FD-B26FB6A0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A008A5-6898-4785-AA62-1B9076F9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28CD1D-360D-4236-AF45-9060FB09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97290B-C759-4D9C-B934-EDFC97DA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A59102-40C3-4441-B039-27C3BCFF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294376-34FA-4182-8C7B-568ECE9F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20033-DD64-4DD5-AED1-7649758D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F01713-1EE3-47FE-A21B-CA187033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1C0FD2-BDD6-4DD1-BBF9-B9AB52FC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D7E81C-24C1-40F1-9576-72CFAA1B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9EC0AE-5968-46C9-80F6-D295F6D4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06B187-0C94-4812-AA63-2B75B968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18FF0A-96C2-447F-8ACC-84F56E84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2E631C-E53C-48D1-81EC-6C1C7F8A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434AB1-34FD-4346-A251-FB3D4EE9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42C89F-65D6-4167-A95C-987C1AFC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DDBFA8-7FFD-4778-89F6-2F933ABC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958BD0-A631-4570-92EC-C05CB1E0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17A024-96E8-4011-BEFA-E9FDF55E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7D4B66-4AED-4A31-BEBA-0CE19B01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ADAB11-F501-473A-8430-8B89BA65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8D7613-F014-453B-8A94-BCF2C63B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9F2661-5004-4A3E-BAF8-DFF3FAA5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41F1A4-AC54-40C9-9D44-B51A47BD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8BEA96-5E7E-4077-9319-4A5A2C31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EB423-C76D-4026-9CE5-5B3AA9C8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A41939-DBB6-4CA1-ADAA-F7CD084C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THE MAIN STREET INFRASTRUCTURE TEST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EB1BFC-5F93-4E80-8413-3DAC93C6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C655CC-9E93-433E-BDE4-7A9702D3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824C9A-9112-46D2-BCF2-0B838CF9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41C7A4-D100-4AD7-947E-D1F05063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FBF46F-370E-4A6A-A49D-090BB173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90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THE FIRST LAUNCH IS LARGE-BANK. THE NETWORK QUESTION IS BIGGER.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3F7DB5-8C63-40C6-AEDF-16907643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3524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99F537-5544-4D9C-ADF3-5F8AEB29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3105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TIER 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78504A-ED4A-493A-8244-BF331F59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862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31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PROPRIETARY RAILS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A2F0BE-FFC1-47A4-8BF7-521FAAAFA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43425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DIRECT CLIENT CAPABILITY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2D20E0-989D-484F-8172-0CAD0468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238500"/>
            <a:ext cx="3524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B26E4A1-3FCD-4CD8-AB14-75267C6C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486150"/>
            <a:ext cx="3105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SHARED LAYER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729474-8EC1-4805-BD8D-2B382AE4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8862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7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INTEROPERABILITY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58038CA-09EB-4593-B866-0E7C6EB6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543425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ON-CHAIN + RTP + CHIPS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2A38A79-FCEC-4A72-9186-3E32A0CB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238500"/>
            <a:ext cx="3524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39DBD2B-B8E4-4A3A-9309-E9D2A9E5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486150"/>
            <a:ext cx="3105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LOCAL ACCESS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6038F3B-56D8-4024-BA28-398B863C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862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04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BANKS OF ALL SIZES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47C95B7-14E1-4A51-8C1D-55042BE4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4543425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PARTICIPATION WITHOUT REBUILDING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A050EBE-2A33-4485-8938-B6E0ACAF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86250"/>
            <a:ext cx="14763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6414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E87C747-5B0C-4166-B26D-E0C045CE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286250"/>
            <a:ext cx="14763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6414B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105444A-5357-493B-B381-FD073900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429375"/>
            <a:ext cx="12382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For community banks, credit unions and CDFIs, the strategic question is not whether every institution builds a blockchain. It is whether shared infrastructure keeps them connected to the next payment rail.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3FECD30-EF6E-41ED-B4DD-5346A027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18956176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7E10AB-57DC-4CB9-B2DF-EC677821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B3C4C-2583-4D8E-BE0E-EB2F18D7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6F974F-2889-4D72-BD29-31AED5D5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6F917-8C42-4A37-A5F9-AE68DC35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5A7945-D1C4-45FC-A055-4E825E3B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783B38-B0C3-494D-B209-0F31CBA3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E7DEA-1F79-46E1-B236-CC0B1B78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717175-BD3C-49B6-A692-E920797B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A1F7B-6048-4681-B1E1-2BCC93E4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49C0F8-825B-403A-805E-9FB75FD6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4B562-FF43-4D4F-860D-A2DE6F99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5A39A-4427-4A06-81CB-77792FE1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4B1AFD-CDB5-4DD1-A5E0-BEB5A6CA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199D5A-C0DB-4D08-B831-E459ADA5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DBA31-A422-48AA-A038-F6724F4B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3EB01A-212F-4776-A86F-9B07B22F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B7EB63-580E-4E93-8C9B-AE672732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8DE7C4-7FE8-43F0-8E24-6934DC3E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52C395-C353-4FDC-AC16-AD6EE974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8D8B0E-3981-4450-8D31-6882BCB7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01E73E-46A9-4094-BC21-A8E03FB0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9525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479A15-1175-415B-86DB-2611131B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290577-16E9-432B-9D73-40930FF4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CD2164-6C1B-4CEB-B852-FF4BED00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4BF872-F0A7-4511-99C0-95A996AE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B660EA-BE4D-44E0-AAF6-DBACF5DD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77B71B-8758-4E98-A709-3997279F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ABB31F-77FD-49F7-A928-A3E2C8E0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F4616C-FC2A-4535-B56F-691C4DC6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05CCDD-D84F-4A1E-945E-B988857C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110AF0-6CC2-4CA4-B600-50462070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098DE7-8B6C-4572-9504-6C2C2BBE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3F49C5-B9B2-4931-A86A-2A7246AA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ED12A0-6231-4BDF-AAA2-031CBC31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8B4667-5C7C-470A-8EED-9460ABF4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6E97AE-6516-4DBD-B534-E6B971D5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READ THE FULL SOURCED BRIEF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27F1BD-2A62-4D89-9B1F-B6F8854D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B6E72D-40F5-4A27-8051-FF37721F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9D1CB7-727B-46BE-B77C-809F6CBC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AD55BA-A81A-48A4-805E-E4D9DB01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C682DD-42FF-435D-ABA0-E07FF0CF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0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THE BANK STAYS.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C04D58D-C920-462D-B750-AC283C16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3837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95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THE RAILS CHANGE.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2D1EB0-B6EC-4B75-8332-0A7B6C9E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1000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175" b="0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9DB7B5"/>
                </a:solidFill>
                <a:latin typeface="Arial"/>
                <a:ea typeface="Arial"/>
                <a:cs typeface="Arial"/>
              </a:rPr>
              <a:t>Bridge X Brief 006 maps the launch, the legal distinction, the programmable treasury layer and the access question facing smaller institutions.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3F279E-4044-4497-A915-3C4AC550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962025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E2A39"/>
          </a:solidFill>
          <a:ln xmlns:a="http://schemas.openxmlformats.org/drawingml/2006/main" w="19050">
            <a:solidFill>
              <a:srgbClr val="D7B35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E2E33C-87DF-4D32-B1F7-5C3906AE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03885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5D37D"/>
                </a:solidFill>
                <a:latin typeface="Arial"/>
                <a:ea typeface="Arial"/>
                <a:cs typeface="Arial"/>
                <a:hlinkClick xmlns:r="http://schemas.openxmlformats.org/officeDocument/2006/relationships" r:id="R9073c5baca744729"/>
              </a:rPr>
              <a:t>READ EDITION 006  →  BRIEF.BRIDGEXCAPITAL.AI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137965-D96A-4297-A413-553B73D5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7147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BANK MONEY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2BE9B75-CD12-47B3-80ED-73893BD8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PROGRAMMABLE RAILS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AB2D5BF-5CF3-4D11-9603-29B9B0E8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8577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INSTITUTIONAL ACCESS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9AB77B2-AA41-450F-9CA5-774DFCA0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BRIDGE X CAPITAL.AI · WEEKLY EXECUTIVE INTELLIGENCE</a:t>
            </a:r>
          </a:p>
        </p:txBody>
      </p:sp>
    </p:spTree>
    <p:extLst>
      <p:ext uri="{BB962C8B-B14F-4D97-AF65-F5344CB8AC3E}">
        <p14:creationId xmlns:p14="http://schemas.microsoft.com/office/powerpoint/2010/main" val="5826654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2026-08-09T18:21:29.6820000Z</dcterms:created>
  <dcterms:modified xsi:type="dcterms:W3CDTF">2026-08-09T18:21:29.6820000Z</dcterms:modified>
</coreProperties>
</file>