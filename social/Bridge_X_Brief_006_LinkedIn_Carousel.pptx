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627d5c33a5416a" /><Relationship Type="http://schemas.openxmlformats.org/officeDocument/2006/relationships/extended-properties" Target="/docProps/app.xml" Id="R1d0c51b3c7e44f1b" /><Relationship Type="http://schemas.openxmlformats.org/officeDocument/2006/relationships/officeDocument" Target="/ppt/presentation.xml" Id="Rbca12cd6d9fa4e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958f9294a94a87"/>
  </p:sldMasterIdLst>
  <p:notesMasterIdLst>
    <p:notesMasterId xmlns:r="http://schemas.openxmlformats.org/officeDocument/2006/relationships" r:id="R6b871fae73d844f1"/>
  </p:notesMasterIdLst>
  <p:sldIdLst>
    <p:sldId xmlns:r="http://schemas.openxmlformats.org/officeDocument/2006/relationships" id="256" r:id="R246e8da5639f4566"/>
    <p:sldId xmlns:r="http://schemas.openxmlformats.org/officeDocument/2006/relationships" id="257" r:id="Rf8f163a99dec4cee"/>
    <p:sldId xmlns:r="http://schemas.openxmlformats.org/officeDocument/2006/relationships" id="258" r:id="R9a0dc32f304e4ada"/>
    <p:sldId xmlns:r="http://schemas.openxmlformats.org/officeDocument/2006/relationships" id="259" r:id="R0a7a3e3e425849d3"/>
    <p:sldId xmlns:r="http://schemas.openxmlformats.org/officeDocument/2006/relationships" id="260" r:id="R83f815393f314302"/>
    <p:sldId xmlns:r="http://schemas.openxmlformats.org/officeDocument/2006/relationships" id="261" r:id="Rd23f9af4061a4ed2"/>
    <p:sldId xmlns:r="http://schemas.openxmlformats.org/officeDocument/2006/relationships" id="262" r:id="R9226635474824c7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caa4e1a09247d7" /><Relationship Type="http://schemas.openxmlformats.org/officeDocument/2006/relationships/slideMaster" Target="/ppt/slideMasters/slideMaster1.xml" Id="Rba958f9294a94a87" /><Relationship Type="http://schemas.openxmlformats.org/officeDocument/2006/relationships/notesMaster" Target="/ppt/notesMasters/notesMaster1.xml" Id="R6b871fae73d844f1" /><Relationship Type="http://schemas.openxmlformats.org/officeDocument/2006/relationships/presProps" Target="/ppt/presProps.xml" Id="R460079bfbb924220" /><Relationship Type="http://schemas.openxmlformats.org/officeDocument/2006/relationships/tableStyles" Target="/ppt/tableStyles.xml" Id="R57abf5b4d7074700" /><Relationship Type="http://schemas.openxmlformats.org/officeDocument/2006/relationships/slide" Target="/ppt/slides/slide1.xml" Id="R246e8da5639f4566" /><Relationship Type="http://schemas.openxmlformats.org/officeDocument/2006/relationships/slide" Target="/ppt/slides/slide2.xml" Id="Rf8f163a99dec4cee" /><Relationship Type="http://schemas.openxmlformats.org/officeDocument/2006/relationships/slide" Target="/ppt/slides/slide3.xml" Id="R9a0dc32f304e4ada" /><Relationship Type="http://schemas.openxmlformats.org/officeDocument/2006/relationships/slide" Target="/ppt/slides/slide4.xml" Id="R0a7a3e3e425849d3" /><Relationship Type="http://schemas.openxmlformats.org/officeDocument/2006/relationships/slide" Target="/ppt/slides/slide5.xml" Id="R83f815393f314302" /><Relationship Type="http://schemas.openxmlformats.org/officeDocument/2006/relationships/slide" Target="/ppt/slides/slide6.xml" Id="Rd23f9af4061a4ed2" /><Relationship Type="http://schemas.openxmlformats.org/officeDocument/2006/relationships/slide" Target="/ppt/slides/slide7.xml" Id="R9226635474824c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ea3e57e0914e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dc9cde72584747" /><Relationship Type="http://schemas.openxmlformats.org/officeDocument/2006/relationships/notesMaster" Target="/ppt/notesMasters/notesMaster1.xml" Id="Rf9f91365e3574e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4c6e6301b4498f" /><Relationship Type="http://schemas.openxmlformats.org/officeDocument/2006/relationships/notesMaster" Target="/ppt/notesMasters/notesMaster1.xml" Id="R7ac1f941898d41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840ffb79444701" /><Relationship Type="http://schemas.openxmlformats.org/officeDocument/2006/relationships/notesMaster" Target="/ppt/notesMasters/notesMaster1.xml" Id="Rff0c5165433b42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0441fcd8a048a8" /><Relationship Type="http://schemas.openxmlformats.org/officeDocument/2006/relationships/notesMaster" Target="/ppt/notesMasters/notesMaster1.xml" Id="Rf347de7701dc4a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7e38de56d9486c" /><Relationship Type="http://schemas.openxmlformats.org/officeDocument/2006/relationships/notesMaster" Target="/ppt/notesMasters/notesMaster1.xml" Id="R35656af5b16f42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62c35194f0428c" /><Relationship Type="http://schemas.openxmlformats.org/officeDocument/2006/relationships/notesMaster" Target="/ppt/notesMasters/notesMaster1.xml" Id="Rfb0e54cd05a746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0183cb10864d0e" /><Relationship Type="http://schemas.openxmlformats.org/officeDocument/2006/relationships/notesMaster" Target="/ppt/notesMasters/notesMaster1.xml" Id="R12af61a3d6c240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https://newsroom.wf.com/news-releases/news-details/2026/Wells-Fargo-to-Launch-Tokenized-Deposits-for-Corporate-and-Commercial-Clients/default.aspx</a:t>
            </a:r>
          </a:p>
          <a:p xmlns:a="http://schemas.openxmlformats.org/drawingml/2006/main">
            <a:r>
              <a:t>https://www.theclearinghouse.org/payment-systems/Articles/2026/06/Major-Financial-Institutions-Unveil-Bank-Led-On-Chain-Money-Initiative</a:t>
            </a:r>
          </a:p>
          <a:p xmlns:a="http://schemas.openxmlformats.org/drawingml/2006/main">
            <a:r>
              <a:t>https://www.bis.org/publ/bisbull73.htm</a:t>
            </a:r>
          </a:p>
          <a:p xmlns:a="http://schemas.openxmlformats.org/drawingml/2006/main">
            <a:r>
              <a:t>https://www.bis.org/publ/arpdf/ar2026e3.htm</a:t>
            </a:r>
          </a:p>
          <a:p xmlns:a="http://schemas.openxmlformats.org/drawingml/2006/main">
            <a:r>
              <a:t>https://www.fdic.gov/news/press-releases/2026/fdic-approves-proposal-implement-genius-act-requirements-and-standards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https://newsroom.wf.com/news-releases/news-details/2026/Wells-Fargo-to-Launch-Tokenized-Deposits-for-Corporate-and-Commercial-Clients/default.aspx</a:t>
            </a:r>
          </a:p>
          <a:p xmlns:a="http://schemas.openxmlformats.org/drawingml/2006/main">
            <a:r>
              <a:t>https://www.theclearinghouse.org/payment-systems/Articles/2026/06/Major-Financial-Institutions-Unveil-Bank-Led-On-Chain-Money-Initiative</a:t>
            </a:r>
          </a:p>
          <a:p xmlns:a="http://schemas.openxmlformats.org/drawingml/2006/main">
            <a:r>
              <a:t>https://www.bis.org/publ/bisbull73.htm</a:t>
            </a:r>
          </a:p>
          <a:p xmlns:a="http://schemas.openxmlformats.org/drawingml/2006/main">
            <a:r>
              <a:t>https://www.bis.org/publ/arpdf/ar2026e3.htm</a:t>
            </a:r>
          </a:p>
          <a:p xmlns:a="http://schemas.openxmlformats.org/drawingml/2006/main">
            <a:r>
              <a:t>https://www.fdic.gov/news/press-releases/2026/fdic-approves-proposal-implement-genius-act-requirements-and-standards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https://newsroom.wf.com/news-releases/news-details/2026/Wells-Fargo-to-Launch-Tokenized-Deposits-for-Corporate-and-Commercial-Clients/default.aspx</a:t>
            </a:r>
          </a:p>
          <a:p xmlns:a="http://schemas.openxmlformats.org/drawingml/2006/main">
            <a:r>
              <a:t>https://www.theclearinghouse.org/payment-systems/Articles/2026/06/Major-Financial-Institutions-Unveil-Bank-Led-On-Chain-Money-Initiative</a:t>
            </a:r>
          </a:p>
          <a:p xmlns:a="http://schemas.openxmlformats.org/drawingml/2006/main">
            <a:r>
              <a:t>https://www.bis.org/publ/bisbull73.htm</a:t>
            </a:r>
          </a:p>
          <a:p xmlns:a="http://schemas.openxmlformats.org/drawingml/2006/main">
            <a:r>
              <a:t>https://www.bis.org/publ/arpdf/ar2026e3.htm</a:t>
            </a:r>
          </a:p>
          <a:p xmlns:a="http://schemas.openxmlformats.org/drawingml/2006/main">
            <a:r>
              <a:t>https://www.fdic.gov/news/press-releases/2026/fdic-approves-proposal-implement-genius-act-requirements-and-standards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https://newsroom.wf.com/news-releases/news-details/2026/Wells-Fargo-to-Launch-Tokenized-Deposits-for-Corporate-and-Commercial-Clients/default.aspx</a:t>
            </a:r>
          </a:p>
          <a:p xmlns:a="http://schemas.openxmlformats.org/drawingml/2006/main">
            <a:r>
              <a:t>https://www.theclearinghouse.org/payment-systems/Articles/2026/06/Major-Financial-Institutions-Unveil-Bank-Led-On-Chain-Money-Initiative</a:t>
            </a:r>
          </a:p>
          <a:p xmlns:a="http://schemas.openxmlformats.org/drawingml/2006/main">
            <a:r>
              <a:t>https://www.bis.org/publ/bisbull73.htm</a:t>
            </a:r>
          </a:p>
          <a:p xmlns:a="http://schemas.openxmlformats.org/drawingml/2006/main">
            <a:r>
              <a:t>https://www.bis.org/publ/arpdf/ar2026e3.htm</a:t>
            </a:r>
          </a:p>
          <a:p xmlns:a="http://schemas.openxmlformats.org/drawingml/2006/main">
            <a:r>
              <a:t>https://www.fdic.gov/news/press-releases/2026/fdic-approves-proposal-implement-genius-act-requirements-and-standards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https://newsroom.wf.com/news-releases/news-details/2026/Wells-Fargo-to-Launch-Tokenized-Deposits-for-Corporate-and-Commercial-Clients/default.aspx</a:t>
            </a:r>
          </a:p>
          <a:p xmlns:a="http://schemas.openxmlformats.org/drawingml/2006/main">
            <a:r>
              <a:t>https://www.theclearinghouse.org/payment-systems/Articles/2026/06/Major-Financial-Institutions-Unveil-Bank-Led-On-Chain-Money-Initiative</a:t>
            </a:r>
          </a:p>
          <a:p xmlns:a="http://schemas.openxmlformats.org/drawingml/2006/main">
            <a:r>
              <a:t>https://www.bis.org/publ/bisbull73.htm</a:t>
            </a:r>
          </a:p>
          <a:p xmlns:a="http://schemas.openxmlformats.org/drawingml/2006/main">
            <a:r>
              <a:t>https://www.bis.org/publ/arpdf/ar2026e3.htm</a:t>
            </a:r>
          </a:p>
          <a:p xmlns:a="http://schemas.openxmlformats.org/drawingml/2006/main">
            <a:r>
              <a:t>https://www.fdic.gov/news/press-releases/2026/fdic-approves-proposal-implement-genius-act-requirements-and-standards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https://newsroom.wf.com/news-releases/news-details/2026/Wells-Fargo-to-Launch-Tokenized-Deposits-for-Corporate-and-Commercial-Clients/default.aspx</a:t>
            </a:r>
          </a:p>
          <a:p xmlns:a="http://schemas.openxmlformats.org/drawingml/2006/main">
            <a:r>
              <a:t>https://www.theclearinghouse.org/payment-systems/Articles/2026/06/Major-Financial-Institutions-Unveil-Bank-Led-On-Chain-Money-Initiative</a:t>
            </a:r>
          </a:p>
          <a:p xmlns:a="http://schemas.openxmlformats.org/drawingml/2006/main">
            <a:r>
              <a:t>https://www.bis.org/publ/bisbull73.htm</a:t>
            </a:r>
          </a:p>
          <a:p xmlns:a="http://schemas.openxmlformats.org/drawingml/2006/main">
            <a:r>
              <a:t>https://www.bis.org/publ/arpdf/ar2026e3.htm</a:t>
            </a:r>
          </a:p>
          <a:p xmlns:a="http://schemas.openxmlformats.org/drawingml/2006/main">
            <a:r>
              <a:t>https://www.fdic.gov/news/press-releases/2026/fdic-approves-proposal-implement-genius-act-requirements-and-standards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https://newsroom.wf.com/news-releases/news-details/2026/Wells-Fargo-to-Launch-Tokenized-Deposits-for-Corporate-and-Commercial-Clients/default.aspx</a:t>
            </a:r>
          </a:p>
          <a:p xmlns:a="http://schemas.openxmlformats.org/drawingml/2006/main">
            <a:r>
              <a:t>https://www.theclearinghouse.org/payment-systems/Articles/2026/06/Major-Financial-Institutions-Unveil-Bank-Led-On-Chain-Money-Initiative</a:t>
            </a:r>
          </a:p>
          <a:p xmlns:a="http://schemas.openxmlformats.org/drawingml/2006/main">
            <a:r>
              <a:t>https://www.bis.org/publ/bisbull73.htm</a:t>
            </a:r>
          </a:p>
          <a:p xmlns:a="http://schemas.openxmlformats.org/drawingml/2006/main">
            <a:r>
              <a:t>https://www.bis.org/publ/arpdf/ar2026e3.htm</a:t>
            </a:r>
          </a:p>
          <a:p xmlns:a="http://schemas.openxmlformats.org/drawingml/2006/main">
            <a:r>
              <a:t>https://www.fdic.gov/news/press-releases/2026/fdic-approves-proposal-implement-genius-act-requirements-and-standards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42e9edcb3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31043737534d74" /><Relationship Type="http://schemas.openxmlformats.org/officeDocument/2006/relationships/slideLayout" Target="/ppt/slideLayouts/slideLayout1.xml" Id="R220189dc15fd4f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0189dc15fd4f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68fed0e4b40a4" /><Relationship Type="http://schemas.openxmlformats.org/officeDocument/2006/relationships/hyperlink" Target="https://brief.bridgexcapital.ai/editions/006-your-bank-deposit-is-going-on-chain/" TargetMode="External" Id="R16c465af0c1b4d6f" /><Relationship Type="http://schemas.openxmlformats.org/officeDocument/2006/relationships/notesSlide" Target="/ppt/notesSlides/notesSlide1.xml" Id="R0a5d8f7814a349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6b807be9445b0" /><Relationship Type="http://schemas.openxmlformats.org/officeDocument/2006/relationships/notesSlide" Target="/ppt/notesSlides/notesSlide2.xml" Id="Rf9f8e0b625ed46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071d7882b4abf" /><Relationship Type="http://schemas.openxmlformats.org/officeDocument/2006/relationships/notesSlide" Target="/ppt/notesSlides/notesSlide3.xml" Id="Rfc0af5e6f1eb47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ad2af9d774409" /><Relationship Type="http://schemas.openxmlformats.org/officeDocument/2006/relationships/notesSlide" Target="/ppt/notesSlides/notesSlide4.xml" Id="R13b0fec0b7094e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2dc833f0b4599" /><Relationship Type="http://schemas.openxmlformats.org/officeDocument/2006/relationships/notesSlide" Target="/ppt/notesSlides/notesSlide5.xml" Id="Rdd78ea8b24eb4e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4ed9495df4284" /><Relationship Type="http://schemas.openxmlformats.org/officeDocument/2006/relationships/notesSlide" Target="/ppt/notesSlides/notesSlide6.xml" Id="R4a450918bae34d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eb2211aa84e17" /><Relationship Type="http://schemas.openxmlformats.org/officeDocument/2006/relationships/hyperlink" Target="https://brief.bridgexcapital.ai/editions/006-your-bank-deposit-is-going-on-chain/" TargetMode="External" Id="Rff35adb156374795" /><Relationship Type="http://schemas.openxmlformats.org/officeDocument/2006/relationships/notesSlide" Target="/ppt/notesSlides/notesSlide7.xml" Id="Rf4a8e9db272b4e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951EC16-0CC0-496A-8AE4-1ED61399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9D492-6BAE-4FBD-A311-4DD2D9A3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39218-6BB1-4628-95A6-AEC46B8B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56C41-E72D-4B1E-857F-8B9BC055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6B4D3-9343-430B-AFA2-559268D1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ABAA1-AD2B-448E-AD53-4F5AB121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74889-2B20-48A6-8854-72C9BA29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E6029-6F71-410D-A05C-B8B03810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72C59-060A-4E5C-9099-DD6F198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3F6F9-D1A2-4D97-A235-6F73D8B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0A7CA-D503-4FA4-A1C1-10F6ABD2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63708-5360-4813-B3AC-92B5DCC7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EAFDD-D718-49A4-ACD1-671A609B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2CFC4-96CF-4999-9BD9-B815FEF9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0BEA6-18D9-4807-91E0-A14AA534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481D2-C7A3-4B20-B0C0-72614767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81078-A5DE-42FD-B4B4-14EA25AC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25673-CD37-4FC8-A6D1-64CFA79D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609F8-C801-4A6D-AAE9-2811C83F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94512-37DB-4ECF-8524-08A234A0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CB91F-A28F-417D-9805-187EA92B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2AE27-5F23-45CF-A6DD-604611E3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15112-B390-4836-AC0E-D3FC0728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CA316-0D43-455F-AF9A-1513BFDD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51F48-54CA-4C2A-9D25-EF020D49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368418-4DEA-48C4-8E39-28ED0484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5FCFCA-0D8E-487A-8C57-DA76796F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336291-9EA4-4B25-81F7-9F9FF2D4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EAF600-C8AD-4443-8D64-6B6281E7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49CA03-6FB5-4BCC-BBDF-11937E2A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30FAD3-8312-4AF6-9D63-63F50F9B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D21A7D-A261-468B-8211-F41D39B5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D0097B-DFE9-406B-9A9A-5AAA90E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85703C-78E4-4B4F-B330-08573A04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C0FB5B-6CC6-49CD-B6A8-214DC202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5C63AC-A099-4C1D-AD05-902FB1F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4260D8-14D3-4C9F-A749-126D41B7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328369-3F96-458E-9DFC-CE3FDD25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0A1843-AABC-40B8-BF03-BB874AB2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74792E-FB16-422A-BF92-2281E169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D31FB9-17D4-49A3-81A5-E8966DF6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71750"/>
            <a:ext cx="42386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414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9B1E1E-388A-42A6-A40E-4EAEBE9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43200"/>
            <a:ext cx="423862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B8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966792-6D8A-4D7B-AC83-6D37C765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14650"/>
            <a:ext cx="4238625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6414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0FDFF2-B9C6-4C23-9DA7-A13A267D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86100"/>
            <a:ext cx="4238625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B8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34A434-D6D2-4BCB-94D4-D7478B64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57550"/>
            <a:ext cx="423862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414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88DD6D-E588-45B5-AD69-9F4993AC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409575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414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0C9ECE-ABCC-4DBA-B01E-F7D3861B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40957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D37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80AA60-DF77-40A1-B68A-32FF4813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40957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6414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1E1E6C-FDB5-4B16-A871-E1C3AD9D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40957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D37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D6DF0F-D7E8-471A-B9E0-780E0BC0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52875"/>
            <a:ext cx="40957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414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2DA911-5E96-491B-A394-53BD0FC1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2714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9525">
            <a:solidFill>
              <a:srgbClr val="26414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0B420E-7B76-437C-B709-BD7FB9C5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2714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9525">
            <a:solidFill>
              <a:srgbClr val="26414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34C748-77D6-45C4-B9A0-AAE60E9E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66900"/>
            <a:ext cx="2714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9525">
            <a:solidFill>
              <a:srgbClr val="26414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567D3A-72EB-4E9D-9AC0-EA4C36C9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2714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58B8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2F3916-1335-4659-B22D-C7D37D64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REGULATED BANK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59C769-4154-4268-B039-6868B8C9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384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DEPOSIT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7098A8-74C3-4E57-94DC-6D80CB58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BANK LIABILITY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50C1B7-2966-465C-A858-EFB3CBD1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39"/>
          </a:solidFill>
          <a:ln xmlns:a="http://schemas.openxmlformats.org/drawingml/2006/main" w="38100">
            <a:solidFill>
              <a:srgbClr val="D7B35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D11D40-9600-4F64-BC71-430EBEE8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050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35D37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17331B-5883-498F-AAAE-86E37D0F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982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4"/>
          </a:solidFill>
          <a:ln xmlns:a="http://schemas.openxmlformats.org/drawingml/2006/main" w="28575">
            <a:solidFill>
              <a:srgbClr val="D7B35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7376A1-CAE8-4082-8738-F8D19D2C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TD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30A92B-1022-4DB5-8645-CC6CFB6D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TOKENIZED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217DBF-4E4A-4478-9DD5-710284C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529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DEPOSIT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B9CAD37-510C-4973-BE68-9AC8BA05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4287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35D37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CFEADB2-692A-40B9-BE02-5DBB25EA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16764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ALWAYS 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5C5D26-4CF9-4237-BB31-C023A8AC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20764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24 / 7 / 365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F70706-81B6-4F8C-984A-94A17940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2733675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WEEKENDS · HOLIDAYS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6FAB0E-BDFD-4EC5-B946-4A5A08B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571875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58B8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D3A18D-B898-44EC-8C3B-63C6E9C3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38195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69C3A79-DD63-421B-9963-4D39F80A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219575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9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PROGRAMMABLE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37C716C-F869-4B84-91B9-32A346FE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8768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SMART-CONTRACT LOGIC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2646757-E930-4876-9B3B-96F4B2D9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76875"/>
            <a:ext cx="3476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D7B35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FF7963-B13F-494B-85D2-DF6D9B41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724525"/>
            <a:ext cx="3057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INITIAL CORRIDOR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900733D-1A60-4581-BA33-D0B66ED2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124575"/>
            <a:ext cx="3057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USD  →  GBP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96904FB-D73C-4837-8532-62087F34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781800"/>
            <a:ext cx="3057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SELECT CLIENTS · FALL 2026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CF814D-814D-4F2C-88DC-C2C58F31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524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9050">
            <a:solidFill>
              <a:srgbClr val="58B8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5FFF970-DCBD-403B-86E2-874D696F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THE BANK STAYS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690015C-C5CB-421E-A3BF-23D1C766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86375"/>
            <a:ext cx="2905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9050">
            <a:solidFill>
              <a:srgbClr val="35D37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2B886EB-8363-48E0-8179-947CD63F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324475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RAILS CHANGE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033D371-FE5F-4FB8-84D3-AD2DCECF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48375"/>
            <a:ext cx="866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YOUR BANK DEPOSIT IS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26BD906-9A6E-4CC5-8876-D4E3553E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00825"/>
            <a:ext cx="904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GOING ON-CHAIN.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3362F8F-3018-4B3F-B3D0-12BBEE9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381875"/>
            <a:ext cx="567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37D"/>
                </a:solidFill>
                <a:latin typeface="Arial"/>
                <a:ea typeface="Arial"/>
                <a:cs typeface="Arial"/>
                <a:hlinkClick xmlns:r="http://schemas.openxmlformats.org/officeDocument/2006/relationships" r:id="R16c465af0c1b4d6f"/>
              </a:rPr>
              <a:t>READ THE FULL BRIEF  →  BRIEF.BRIDGEXCAPITAL.AI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E22113D-2958-4ADC-802C-4BA85BD8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564868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ED22DC-C792-417F-9A73-14835A8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C3718-8E6C-40A4-BA8B-7C5F416E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DB43E-C260-4788-B898-6B9A8214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9A0CE-02B1-4B16-8F66-CE2B350A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36A07-5EE8-4488-B5EE-ABD7668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5338E-6C30-4C17-8F04-F9D0EE41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D93ED-C4CB-49F2-8496-61CA94D4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864E2-32EA-4325-B1F3-0311BED0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DF880-265E-4581-95A7-D8FA267D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F0AA2-BD55-43B4-ADBD-B5AB830D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CE40D-5A2E-4FA1-AA15-C6306113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CF8AB-16B2-4332-9D3A-B52CE330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A0693-B652-4BA6-BA2C-6B07FF08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07A14-C7E4-48AB-85AC-66C38A3D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83BC1-40CD-400D-B556-1EE3834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B2603-A8B4-4B57-8FDA-B61E1B5E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8D142-9DB8-46C4-8088-D8D8CFB7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45087-ECBB-4F6B-8D47-0E717E81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D4347-BE20-488F-9F4B-7793B56A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5F85A-15D2-4FD2-9A31-9D822004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72C33E-7497-478F-A610-3337A923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5DE14-A79B-4A60-955D-007DDF00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7C2AC-1887-4653-BF6C-085560B9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9FF14-3F84-42A2-A76C-32C8F48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A04B1D-0C55-483E-A8ED-0A5B947A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6527A-ABF0-42CC-AD25-A6A4424C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4540EF-E328-46C5-B2EE-17DA65BA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B1420C-89F6-423E-8DCD-DD45A92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32FBCA-5D17-48E7-AFD8-8934E294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6EDFE8-D858-4C9D-B280-B5E8DD22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2823C-1F45-4E32-B64D-8EC5D2FB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81AD8D-AE70-45F5-8752-7BE2904D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2B2A4-AB28-46DA-807E-893AEF26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48FCCD-E7A4-4A6C-B555-B842F24E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8838DC-1B24-4A20-8650-9F90C59E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8780EE-D03B-45E6-88BB-C381BE2E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WHAT WELLS FARGO ANNOUNCED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4CBAE2-819A-46A8-9263-A297878F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A58E9E-796A-4D35-8298-F09B7A1A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4E5D8F-E7D5-4CBA-BE31-9DDDD966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B60B46-E607-480E-978A-75F1A9F3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DF9FB6-4150-4160-98E6-0B3359AD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190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A MAJOR BANK IS PUTTING DEPOSITS ON NEW RAILS.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3C13F2-6AF9-4316-9BF4-9E5678C6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WELLS FARGO · AUGUST 4, 2026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EB0EE1-7D7C-451C-B30E-E95AA958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714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58B8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723F55-65C1-400D-A9CD-D7B05978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LAUNCH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18825E-C903-4165-BD16-C4DE63DA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FALL 2026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5DBA47-3D7F-4E65-94E1-ADD3AC99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29175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LIMITED U.S. ROLLOUT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0B6FDA-4073-4ADF-9526-0EC131EA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24250"/>
            <a:ext cx="3714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35D37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9D4DBE-7BC1-418C-A3DF-678F013F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719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FIRST USE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55353C-1685-4A6C-855A-D7E19482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71950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USD → GBP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4FADBD-F540-4366-AC76-7C508678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829175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SELECT CORPORATE CLIENTS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04EF32-296C-4386-AFE2-C87CD3C2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24250"/>
            <a:ext cx="3714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D7B35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B5BC27-547A-4C45-9D96-9B3E770C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7719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EXPANSION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2C8CD7-6C6A-42C2-9B52-7BEABB1F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171950"/>
            <a:ext cx="329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2027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17959B-1082-416E-AFAA-8DA21B5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829175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MORE CLIENTS · CURRENCIES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B458A0-B8A8-431E-9FE7-E8D54694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429375"/>
            <a:ext cx="1209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The capability will sit inside the bank’s existing offering and route eligible payments onto tokenized deposits when timing, speed or flexibility improves.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6EB70E-4453-4C5B-B90D-CECE0CAC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502089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55905A-EF96-4B45-84E8-2639C6B0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6EC25-5AA6-420B-B640-11A7EF58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85C92-B508-4B1E-98D1-C1A008E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92E2F-48D8-4202-B071-B115F2CE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D8837-24F1-4E17-A308-9C8CEC35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C98F9-5843-484E-AC01-9F48E3F3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03E30-0E44-4ACC-B943-699225F3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68BE0-8424-4BEE-9E45-094804B2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896DF-E37E-4D2D-87BD-0D9F4856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AD899-F5F2-47A5-BB9D-5DBB19D6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AF9DB-29BB-4225-9C0E-BFAAD788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25F81-ADBB-417C-A0CC-D6C4DC21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59B45-A895-45BC-B852-C2E6B875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07C8E-D7CF-492E-85AE-5E263E3B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05D40-20A6-4AEE-A4FC-7F290CCC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BD5E1-0F5E-4385-A1A0-FBAF2D20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8EAF4-6C28-4665-BD22-73198EBB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2DECE-0955-453B-896D-41AFFF17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50D24-B05F-41E7-9BDF-85FAB885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37006-6B85-45CA-9334-CEFB2E9F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0E350-E281-46BC-8EA5-9B2E7640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9B4D8-8D31-40C7-AB15-C8F1D70A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720C74-DDFE-43D8-A2EA-B5136342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49ED4-76F8-44B7-A682-AEAB1911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29135-95FF-463B-94E1-87539B8E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F078CC-3643-4183-903F-00CB26EA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08168-25FD-4BD3-B4A1-54ADBCC3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C1FF62-0C77-45D7-BF02-7CF05C42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FE6673-F55D-47F8-BC44-F0EB72D7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9B7E23-85BB-44E7-B282-5779C7B6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1897A2-558F-414F-A406-B9309E91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181DC3-F536-44F7-878B-67E90DA2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59A320-9E55-4212-9604-424B2DBA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3ACE1E-4721-4C12-B41D-1B658B08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81F2FA-9909-4E85-9E6C-5B2B3EC0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F0C870-9912-4F97-8D07-75DB037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WHAT A TOKENIZED DEPOSIT 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61C3D4-6F81-4F1D-AAB8-18F991D7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46AE06-2965-40D9-9935-1F479A0F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5F2B21-5362-402D-9DED-EE6C615D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6479CB-0E3E-4D1C-A9FE-D89222E3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D0BD54-EF08-44B3-AC03-9D2F228E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190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THE MONEY DOES NOT LEAVE THE BANKING SYSTEM.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062366-01C1-43AE-84D1-1F61BAE8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58B8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D6A311-3ACF-497C-AEDE-F7B2B064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5337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LEGAL CLAIM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C60CB5-290D-4177-8A52-D9004CFA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3382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BANK DEPOSIT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887D49-27D5-41C1-BDA5-C54DB637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591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LIABILITY OF THE BANK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6C30F7-12B6-4C70-96D6-16B79D78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86125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D7B35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F62433-9619-4D43-948E-B6BC8FC1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337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DIGITAL FORM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41AF66-407C-4EF0-809B-D398EAD5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3382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TOKENIZED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8E2F30-131E-43B7-BE22-39A41213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REPRESENTED ON A LEDGER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B8EFC9-4831-478E-B007-41026EBC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286125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35D37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B316D9-8706-4D55-8F9C-2626980F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5337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NEW CAPABILITY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A9510F-4C47-4544-B0E1-9E73BBA9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93382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PROGRAMMABLE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F0A213-F98C-4C67-AFEA-BE8018CD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591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CONDITIONAL · ALWAYS 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289AE3-378E-40DD-AA1E-DA864A0B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1476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414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52DBB0-A9D1-45CB-A855-9BC1FE03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33875"/>
            <a:ext cx="1476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414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A747F2-89F0-4BC0-A978-BF22F2F8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572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Same underlying deposit relationship. A different operating layer for movement, logic and settlement.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C892A5-4438-4938-9AB0-5DF3785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1913275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F66A3D-D112-4B88-9BCB-861B6156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655D3-6004-40B3-90B1-BFDAA7A3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44438-3D1E-4E5F-9A7D-9BB800BE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CDFB6-D114-4CF3-BA30-CEF5D97F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F8464-ABAD-4DE8-B3E8-17699596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594C6-C7B1-41CB-AD1B-1AA95C16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11F24-BA35-45EC-A463-8FB99697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F6B90-B543-400A-BAF3-DD66B2A0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E560C-BE0E-4902-A0FB-AD779FF3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48956-35CB-49B4-9FCC-25BC1C3F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706F4-903C-4783-805F-A26A8161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91E66-4595-40F1-9A3F-22F82311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45592-7CB0-4805-A29E-1BA2689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32399-E3D0-4696-A472-C909C994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4B9BA-B13E-4D1A-B7A4-B1F8C16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EE360-8748-4CD7-8C63-A8D42BF9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5F837-E064-4A89-A05D-4FA4ED59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91F5C-7A15-4339-800C-7003134F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14B94-8235-4407-82CC-23FCD72D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8BF7A-7EC7-47A3-98B1-C14B6275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8AD6C-0A34-418C-A812-2F9AF576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0CFC4-CD8E-4452-AADB-F7A775DB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9F2F7-AC06-46B9-BD95-A3DD17D2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CB9BA-1DDC-4CBC-9EA1-8505671D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31DA3-9FE5-4802-82EF-051B2F95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4FDE2C-E4C6-4DC0-88C3-B7338BE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F2C45C-53F2-4394-87A3-41D79968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852B9F-9CD5-48C1-BCDC-94879127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46E5C6-B837-4988-A98A-23551B7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00DE5C-1E91-43DD-914E-8395C90C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D84EF0-33DB-4BA0-82AD-32DDCBD0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7DBAEA-108F-4BC3-9C53-253A2743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7343E9-39AE-40DA-BF16-892BCAE3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A2F38B-C12C-47B6-B042-E8951765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D94351-9D24-4116-B659-A6AC4A65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24B9B1-D9B2-4820-B9DE-8847DE32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DEPOSIT TOKEN ≠ STABLECOIN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323F8D-C918-44B5-AD98-75715710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C35A4F-0B85-4C20-A8D3-C3D0D9E5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A85ECD-0AC2-4055-BF9E-17B0A3F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23513E-817A-4F46-BC32-F03840BD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FE5C7D-5A61-4C84-A848-DDF31F14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190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SIMILAR TECHNOLOGY. DIFFERENT CLAIM.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91FA2B-64F4-4C6C-BE39-C5AC18E5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9525" cy="422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AA5BE5-1998-41C1-B613-5E4C6D19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TOKENIZED DEPOSIT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C5CC0D-AAD0-4CC0-B836-2229E2A5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5524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Liability of an insured bank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Tied to an account relationship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Bank-regulated operating perimeter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Designed to preserve deposit status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C2239C-9E5D-435A-BE6E-C32FCA6C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PAYMENT STABLECOIN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284AB0-B28E-4F41-805D-D02B52F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5524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Liability or obligation of an issuer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Backed by reserve assets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Circulates as a transferable token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Not itself an insured bank deposit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108FB8-48D2-4888-B649-4264D66F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000875"/>
            <a:ext cx="1219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THE DISTINCTION IS NOT THE BLOCKCHAIN. IT IS THE CLAIM, ISSUER AND LEGAL PERIMETER.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6FC37D-AF95-4B9C-A9A0-73310A1B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16290767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FF2D92-4B9D-498D-AED3-FA75949D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1B1F5-D063-4A9E-81E2-A609490B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3DB02-CDF3-45FF-A14D-424AF0DD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B7A86-C92B-47F7-811F-90031285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666D4-458C-4FEE-BAEC-708AFA20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02A7F-6928-4D93-91E6-02E3FE3F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2BFE5-5DC4-421F-B87E-1356B0C5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4778D-DE02-46E5-A72B-DB54C641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B9F32-09ED-47C8-A36B-A26AC5C6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B55BB-D97C-4D4B-B531-D596B667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4F5CA-34FE-4A06-8664-A0F08120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289FB-0E3C-4156-9710-10438B37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C4F76-BCD8-43C8-9C5A-DA70A9DE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D9967-4F86-4038-BF72-3B2571B3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3B9FC-2188-4755-9363-F7F10E15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E0AC4-22A2-4AAE-AE54-B4F035D8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7B66D-02CC-4AC7-B917-E53C5DB3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427E6-0E04-4297-BFCF-47706F0F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BF3CA-9756-4BD8-AC04-C48E578C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C9807-C193-4C0B-9D37-CAE82DA7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2D2DC-AFFB-44EE-AD0F-95DF1002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1CCD7-E796-49D6-99F6-90DC6088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9FDF4-6CE9-419B-892F-15A72FBF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99AB1-9868-4193-A153-3D312D77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578B7-AEF1-466E-A5D1-E78E2DE0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9DDA6-6387-43DB-9BA9-E911AD05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96168F-05DD-4AB2-B153-B6F872B4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DF5FB1-0F71-4919-876C-3EFA336E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1CCC32-74CE-4FDA-AB36-B6186D8A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DD1F7F-728B-4D5F-A12A-FDFB2164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A87EAE-B175-45E1-8CB8-77FBC6CE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E24DBD-830A-4239-A2FB-98C5AC9A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247FEE-1890-426C-BFF2-49592FA7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867EAD-E6AF-44CE-92A8-80696333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56C2BF-554D-4991-BCF5-147D77D8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02E7C0-BB28-4980-8912-BFD83057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WHAT BECOMES PROGRAMMABLE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34CF73-191B-4CCC-A325-82D3E194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1ACB85-19F7-4229-832C-81419D98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F62E39-6EB1-4FEF-B7BD-4FB0600C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6E079E-ED0E-4D59-A2D8-59E9E881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8B3B5B-8D6C-4B1C-BC8A-E9380B93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190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TREASURY STARTS OPERATING ON EVENT TIME.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60D627-D1B1-449A-8648-09D43192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2857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39"/>
          </a:solidFill>
          <a:ln xmlns:a="http://schemas.openxmlformats.org/drawingml/2006/main" w="28575">
            <a:solidFill>
              <a:srgbClr val="D7B35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A07F73-843E-4C37-9A3A-5BE2C54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CORPORATE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3856B0-5FCE-4E3A-82E0-171F63CC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TREASURY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C288E5-B12A-43A1-8192-872BE214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35D37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683981-998C-4544-8746-4C4BC04C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7241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24/7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F2B120-0D84-431F-B044-11316DBE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1242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SETTLEMENT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C5A554-643D-40A6-97FA-74B8B85E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814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AUTOMATED WORKFLOW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81D508-F827-4249-B71B-15B7C493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86125"/>
            <a:ext cx="1666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957338-D2F5-432A-9847-1FDA025F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58B8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C46EE8-CD48-4A8E-95D9-458F17B0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7241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576216-3F70-44C6-8C15-0D5C9BF3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1242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42BE57-F165-40A1-8560-B03C3AE4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7814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AUTOMATED WORKFLOW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028517-D971-45A5-A824-99C624C1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161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5F1128-B67A-4C62-8218-69FCB0D6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530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D7B35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655991-A068-4182-8D49-8DAC63E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00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CROSS-BORDER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21667E-974D-4B96-8FD7-336D4056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6007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MOVEMENT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6FB81D2-F36E-4DC3-982C-BABB7A1E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62579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AUTOMATED WORKFLOW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3085E0-1198-4248-8B94-1023AA1B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62625"/>
            <a:ext cx="1666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5F70AA-97EB-4CA3-8893-56707914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35D37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B3ADEE-6FB4-4E24-A175-06866EA1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200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RICHER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AD7368-4D22-4271-8AC5-55CF701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6007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9D5923-06DA-415B-9253-AEC4A5DD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2579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AUTOMATED WORKFLOW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5A009F-9FF2-4C22-A45A-D12A7D0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62625"/>
            <a:ext cx="161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D648205-6108-4E30-8EAB-B7E4D1D5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8580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Batch windows become optional. Payment instructions can carry timing, conditions and context.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798A32-1CAC-454A-B1A0-8CD31934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2104223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8CB707-7DF2-4EFD-814D-8CB78DA8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77A18-5BC6-428D-A02F-8EEA77DB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9996F-9B91-473E-AB51-B7BAC499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3C6E9-290B-4A8D-98E0-A97BA65A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48381-47B8-4915-AF6B-E7761D12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DA4B1-2C36-44E2-96AD-1CFB88BC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D2ADF-5B6F-4B04-A701-77356B15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C1E0A-5698-4A8F-99DA-048E9B7A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C7DEE-5318-4DA6-A961-628F2C08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C5D26-9850-42C4-AE77-2AF14323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3B448-C055-4B41-9DA4-F4A5D8AE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39355-3B22-4B43-9BFE-13012D91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0240B-1770-484F-BECC-147D16C2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42A36-6002-4B42-8B0E-2C15AA28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49552-46EE-44F8-8218-4395B007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4CBEB-3108-400B-B780-A569CAB1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9DEBA-6C19-4732-AFAB-45AF33DF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FF58B-91F1-4CC7-889E-C21DA3FA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D5280-DEBA-4832-A516-615541CB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BDC30-38D5-41D4-BE9A-CA191672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B1B51-700C-4BE3-9B0F-E30EB2E1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DFA45-2782-4A4E-8017-399BD312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52612-1277-46F6-86F8-6FBAF3AE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1343D3-4D00-4AB0-AD12-147DB990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1F66E-039C-4D12-85C1-CF2D4A8C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81878-513B-4C88-9B58-7E03F6DC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F329B-C2FF-41B3-867D-A205509C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33C10-86E7-4C34-B5C3-3A49E360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0EAD93-4B8C-4C94-BED4-712B82A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16506-E2FE-4D41-B74D-49D29742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9273A9-20EC-447F-91F2-CBC4D06F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4AFC88-83F5-4E2F-B6CE-F44D2065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F98E2B-CC8C-4B9A-8E16-C45E1993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3F8270-99A0-4F55-A6B3-9DD8CA5B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45E3A9-7AA2-491C-9909-3DD2E907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FFAD24-5D1B-489D-8C59-1C78A6C7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THE MAIN STREET INFRASTRUCTURE 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9C66E7-6925-4DA4-825F-7F078E30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0BE009-9D28-4B28-9C09-0B8FAC4C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341911-49DE-4B7B-A44A-E8B6C4DA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30F334-B3DE-4908-BFBE-3871A8D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1D96C1-9C00-4287-8C3B-F86ECE3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190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THE FIRST LAUNCH IS LARGE-BANK. THE NETWORK QUESTION IS BIGGER.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00889F-843D-460D-945B-ABAB8111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3524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D7B35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895D3C-7402-4304-9086-C042CBEF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TIER 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C84E68-B056-4AD1-9C8E-10002593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31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PROPRIETARY RAILS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379C10-B5E1-44B4-BE6F-25A3C1BE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34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DIRECT CLIENT CAPABILITY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A160BC-1B73-4500-BAEA-F0AF933F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38500"/>
            <a:ext cx="3524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35D37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25FA25-26B6-4A86-AC72-FC52959D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4861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SHARED LAYER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F28A79-6BAA-4DEC-AB0B-89E0B0A2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862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7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INTEROPERABILITY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2914F6-B7C6-4187-8081-DF5D2325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5434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ON-CHAIN + RTP + CHIPS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EFCE2B-407F-4864-AAC9-F572F638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3524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58B8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B2B61A-D0AE-4658-9360-7DCBA039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4861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LOCAL ACCESS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F176B7-6F0F-4489-9141-AD5FA61A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862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4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BANKS OF ALL SIZES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76DCF4-8C08-4C5B-9042-A5469088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434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PARTICIPATION WITHOUT REBUILDING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CFC0A6-E08A-432B-B5EA-C2B4F7D7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1476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414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4638E9-422F-4A2C-911E-A166AEEB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86250"/>
            <a:ext cx="1476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414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47C7F4-E887-4A1E-BAC0-29312C8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29375"/>
            <a:ext cx="1238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For community banks, credit unions and CDFIs, the strategic question is not whether every institution builds a blockchain. It is whether shared infrastructure keeps them connected to the next payment rail.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C9B289-85EF-4CF3-AE22-7CE4F0D1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19185207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DA665C-5E47-4D38-878F-6E84EB26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366F2-0DB4-4A42-A480-D6BF3AA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7FF48-608B-4CD0-B2D5-F38617CE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57B59-5AE9-4E7B-9C82-36782EFB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77641-5F8A-424F-8FEC-C8086203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3902E-23A2-409B-A1D5-EA52CFFF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026A3-EF9E-47DD-952E-3C2A3DA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CD574-CC63-46A9-A5E5-2169F611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A81B0-B6E2-4E60-99DD-97BE2DC7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3EF8C-DA0B-4CDD-A8B7-ADE69BEC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82C11-6FFB-45E1-845F-FBCC9764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8B663-CE0B-4006-A174-FD518FD9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C1AF8-88EA-42D3-9919-AB6A4FCF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452C3-8176-41D8-8B97-9F441FE1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A1AE3-0ABB-4768-AD33-C6CC7C7A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30DB6-6E8F-4EE3-8010-9E35BD37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584E1-8AA6-4EB1-A87A-767C9DE0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1F05B-CD1F-477D-8907-9D99E754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F7EF5-4332-4AC1-B8F3-4074E728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01F1F-AAF7-4987-817C-BE48914D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EA8E2-2A3C-47D8-853F-386840B7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F46B1-9C5E-40BB-97FD-D075100D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4ACCF-0CEF-4270-9E6B-2B166B19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EED91-C4D8-4064-B48F-1BDB7264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1C3A78-70EF-4A71-8584-245C5F8A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62808F-B167-4D22-B9F0-18C30F3C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DF9F1-1386-4175-AEC1-C44F0736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9D152-78A6-474C-BA01-C4D61073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790AF-A27A-42E6-8E37-2B064375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9197A8-7FB3-4585-96E5-73EE410A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A84795-9D70-48DC-BCFE-3FB34A6F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1D9695-B51C-466D-A3F0-291802B2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40BAFE-AA20-43AD-8DE1-2452BDEC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2625B9-CF0A-4D32-92D5-A539354A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1A014D-05CB-4255-8A9C-C0DE8C29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C7F814-F396-4847-9EC5-9AD12E13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READ THE FULL SOURCED BRIEF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4D044F-01AF-4557-8E19-A25A79EF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3F369-E311-4AAC-8AEE-1B3A089F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728433-04B5-4EF3-9F2A-41433EE6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753153-B0D9-4FAA-85D9-6DE8DCBC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11E22C-B142-4F00-AC95-AF8E329E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THE BANK STAYS.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6B4621-59B7-4F2E-B845-9B25B9A6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THE RAILS CHANGE.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98CCB3-E670-4BDE-A95C-03EF8C4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00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0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DB7B5"/>
                </a:solidFill>
                <a:latin typeface="Arial"/>
                <a:ea typeface="Arial"/>
                <a:cs typeface="Arial"/>
              </a:rPr>
              <a:t>Bridge X Brief 006 maps the launch, the legal distinction, the programmable treasury layer and the access question facing smaller institutions.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895794-6389-4622-882A-E3402ADF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9620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E2A39"/>
          </a:solidFill>
          <a:ln xmlns:a="http://schemas.openxmlformats.org/drawingml/2006/main" w="19050">
            <a:solidFill>
              <a:srgbClr val="D7B35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CA60CE-A10C-49EF-8F84-51570A20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388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D37D"/>
                </a:solidFill>
                <a:latin typeface="Arial"/>
                <a:ea typeface="Arial"/>
                <a:cs typeface="Arial"/>
                <a:hlinkClick xmlns:r="http://schemas.openxmlformats.org/officeDocument/2006/relationships" r:id="Rff35adb156374795"/>
              </a:rPr>
              <a:t>READ EDITION 006  →  BRIEF.BRIDGEXCAPITAL.AI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F15CC4-BDF2-416D-A9FF-B0378C33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14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BANK MONEY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2DAB8A-7E1C-42FF-A9D9-17BDBD9D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PROGRAMMABLE RAILS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2B3BCB-BAF9-4414-8A0B-D2F05AB6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57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INSTITUTIONAL ACCESS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07559C-6D87-4045-A94C-0A7E2099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BRIDGE X CAPITAL.AI · WEEKLY EXECUTIVE INTELLIGENCE</a:t>
            </a:r>
          </a:p>
        </p:txBody>
      </p:sp>
    </p:spTree>
    <p:extLst>
      <p:ext uri="{BB962C8B-B14F-4D97-AF65-F5344CB8AC3E}">
        <p14:creationId xmlns:p14="http://schemas.microsoft.com/office/powerpoint/2010/main" val="1999523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2026-08-09T18:18:02.4250000Z</dcterms:created>
  <dcterms:modified xsi:type="dcterms:W3CDTF">2026-08-09T18:18:02.4250000Z</dcterms:modified>
</coreProperties>
</file>